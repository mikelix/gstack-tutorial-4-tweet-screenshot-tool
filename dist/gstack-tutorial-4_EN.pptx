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35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00A6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691640"/>
            <a:ext cx="10241280" cy="4114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800" b="1" i="0">
                <a:solidFill>
                  <a:srgbClr val="7FC4E8"/>
                </a:solidFill>
                <a:latin typeface="Calibri"/>
                <a:ea typeface="Microsoft YaHei"/>
                <a:cs typeface="Microsoft YaHei"/>
              </a:rPr>
              <a:t>GSTACK TUTORIAL NO.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194560"/>
            <a:ext cx="10241280" cy="1463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8000"/>
              </a:lnSpc>
            </a:pPr>
            <a:r>
              <a:rPr sz="40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From AI Planning to Working Production Software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886200"/>
            <a:ext cx="9692640" cy="10058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0000"/>
              </a:lnSpc>
            </a:pPr>
            <a:r>
              <a:rPr sz="2000" b="0" i="0">
                <a:solidFill>
                  <a:srgbClr val="C9D6E0"/>
                </a:solidFill>
                <a:latin typeface="Calibri"/>
                <a:ea typeface="Microsoft YaHei"/>
                <a:cs typeface="Microsoft YaHei"/>
              </a:rPr>
              <a:t>A worked example of running a second, independent AI as gstack's review and drafting layer — and the evidence ladder that caught a real, silent bug before ship.</a:t>
            </a:r>
          </a:p>
        </p:txBody>
      </p:sp>
      <p:sp>
        <p:nvSpPr>
          <p:cNvPr id="7" name="Rectangle 6"/>
          <p:cNvSpPr/>
          <p:nvPr/>
        </p:nvSpPr>
        <p:spPr>
          <a:xfrm>
            <a:off x="914400" y="5120640"/>
            <a:ext cx="1463040" cy="19050"/>
          </a:xfrm>
          <a:prstGeom prst="rect">
            <a:avLst/>
          </a:prstGeom>
          <a:solidFill>
            <a:srgbClr val="00A6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5394960"/>
            <a:ext cx="9692640" cy="11887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9AA8B4"/>
                </a:solidFill>
                <a:latin typeface="Calibri"/>
                <a:ea typeface="Microsoft YaHei"/>
                <a:cs typeface="Microsoft YaHei"/>
              </a:rPr>
              <a:t>Subject: Tweet Screenshot Tool (Next.js, Vercel)</a:t>
            </a:r>
          </a:p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9AA8B4"/>
                </a:solidFill>
                <a:latin typeface="Calibri"/>
                <a:ea typeface="Microsoft YaHei"/>
                <a:cs typeface="Microsoft YaHei"/>
              </a:rPr>
              <a:t>Built and shipped in one session, 2026-09-17</a:t>
            </a:r>
          </a:p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9AA8B4"/>
                </a:solidFill>
                <a:latin typeface="Calibri"/>
                <a:ea typeface="Microsoft YaHei"/>
                <a:cs typeface="Microsoft YaHei"/>
              </a:rPr>
              <a:t>Source: reviews/01-05, docs/external_ai_mentor.md, TUTORIAL.md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20095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600" b="1" i="0">
                <a:solidFill>
                  <a:srgbClr val="1F4E78"/>
                </a:solidFill>
                <a:latin typeface="Calibri"/>
                <a:ea typeface="Microsoft YaHei"/>
                <a:cs typeface="Microsoft YaHei"/>
              </a:rPr>
              <a:t>MENTAL MODEL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786384"/>
            <a:ext cx="10820095" cy="103733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8000"/>
              </a:lnSpc>
            </a:pPr>
            <a:r>
              <a:rPr sz="3200" b="1" i="0">
                <a:solidFill>
                  <a:srgbClr val="1F4E78"/>
                </a:solidFill>
                <a:latin typeface="Calibri"/>
                <a:ea typeface="Microsoft YaHei"/>
                <a:cs typeface="Microsoft YaHei"/>
              </a:rPr>
              <a:t>“AI writes code” is an incomplete description of what actually happened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933447"/>
            <a:ext cx="10820095" cy="9525"/>
          </a:xfrm>
          <a:prstGeom prst="rect">
            <a:avLst/>
          </a:prstGeom>
          <a:solidFill>
            <a:srgbClr val="1F4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04088" y="2205481"/>
            <a:ext cx="82296" cy="82296"/>
          </a:xfrm>
          <a:prstGeom prst="rect">
            <a:avLst/>
          </a:prstGeom>
          <a:solidFill>
            <a:srgbClr val="1F4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78408" y="2079751"/>
            <a:ext cx="10527487" cy="736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2000"/>
              </a:lnSpc>
            </a:pPr>
            <a:r>
              <a:rPr sz="2200" b="1" i="0">
                <a:solidFill>
                  <a:srgbClr val="1F4E78"/>
                </a:solidFill>
                <a:latin typeface="Calibri"/>
                <a:ea typeface="Microsoft YaHei"/>
                <a:cs typeface="Microsoft YaHei"/>
              </a:rPr>
              <a:t>Not one model.  </a:t>
            </a:r>
            <a:r>
              <a:rPr sz="2200" b="0" i="0">
                <a:solidFill>
                  <a:srgbClr val="000000"/>
                </a:solidFill>
                <a:latin typeface="Calibri"/>
                <a:ea typeface="Microsoft YaHei"/>
                <a:cs typeface="Microsoft YaHei"/>
              </a:rPr>
              <a:t>A separate AI mentor reviewed and drafted gstack's key prompts, in its own session.</a:t>
            </a:r>
          </a:p>
        </p:txBody>
      </p:sp>
      <p:sp>
        <p:nvSpPr>
          <p:cNvPr id="7" name="Rectangle 6"/>
          <p:cNvSpPr/>
          <p:nvPr/>
        </p:nvSpPr>
        <p:spPr>
          <a:xfrm>
            <a:off x="704088" y="3272027"/>
            <a:ext cx="82296" cy="82296"/>
          </a:xfrm>
          <a:prstGeom prst="rect">
            <a:avLst/>
          </a:prstGeom>
          <a:solidFill>
            <a:srgbClr val="1F4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78408" y="3146297"/>
            <a:ext cx="10527487" cy="736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2000"/>
              </a:lnSpc>
            </a:pPr>
            <a:r>
              <a:rPr sz="2200" b="1" i="0">
                <a:solidFill>
                  <a:srgbClr val="1F4E78"/>
                </a:solidFill>
                <a:latin typeface="Calibri"/>
                <a:ea typeface="Microsoft YaHei"/>
                <a:cs typeface="Microsoft YaHei"/>
              </a:rPr>
              <a:t>Not one pass.  </a:t>
            </a:r>
            <a:r>
              <a:rPr sz="2200" b="0" i="0">
                <a:solidFill>
                  <a:srgbClr val="000000"/>
                </a:solidFill>
                <a:latin typeface="Calibri"/>
                <a:ea typeface="Microsoft YaHei"/>
                <a:cs typeface="Microsoft YaHei"/>
              </a:rPr>
              <a:t>CEO, outside-voice, and engineering review each caught what the previous one missed.</a:t>
            </a:r>
          </a:p>
        </p:txBody>
      </p:sp>
      <p:sp>
        <p:nvSpPr>
          <p:cNvPr id="9" name="Rectangle 8"/>
          <p:cNvSpPr/>
          <p:nvPr/>
        </p:nvSpPr>
        <p:spPr>
          <a:xfrm>
            <a:off x="704088" y="4338573"/>
            <a:ext cx="82296" cy="82296"/>
          </a:xfrm>
          <a:prstGeom prst="rect">
            <a:avLst/>
          </a:prstGeom>
          <a:solidFill>
            <a:srgbClr val="1F4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78408" y="4212843"/>
            <a:ext cx="10527487" cy="736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2000"/>
              </a:lnSpc>
            </a:pPr>
            <a:r>
              <a:rPr sz="2200" b="1" i="0">
                <a:solidFill>
                  <a:srgbClr val="1F4E78"/>
                </a:solidFill>
                <a:latin typeface="Calibri"/>
                <a:ea typeface="Microsoft YaHei"/>
                <a:cs typeface="Microsoft YaHei"/>
              </a:rPr>
              <a:t>Not unverified.  </a:t>
            </a:r>
            <a:r>
              <a:rPr sz="2200" b="0" i="0">
                <a:solidFill>
                  <a:srgbClr val="000000"/>
                </a:solidFill>
                <a:latin typeface="Calibri"/>
                <a:ea typeface="Microsoft YaHei"/>
                <a:cs typeface="Microsoft YaHei"/>
              </a:rPr>
              <a:t>The bug that mattered was caught by looking at exported pixels — not by a check passing.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04088" y="5405119"/>
            <a:ext cx="82296" cy="82296"/>
          </a:xfrm>
          <a:prstGeom prst="rect">
            <a:avLst/>
          </a:prstGeom>
          <a:solidFill>
            <a:srgbClr val="1F4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78408" y="5279389"/>
            <a:ext cx="10527487" cy="736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2000"/>
              </a:lnSpc>
            </a:pPr>
            <a:r>
              <a:rPr sz="2200" b="1" i="0">
                <a:solidFill>
                  <a:srgbClr val="1F4E78"/>
                </a:solidFill>
                <a:latin typeface="Calibri"/>
                <a:ea typeface="Microsoft YaHei"/>
                <a:cs typeface="Microsoft YaHei"/>
              </a:rPr>
              <a:t>Not autonomous.  </a:t>
            </a:r>
            <a:r>
              <a:rPr sz="2200" b="0" i="0">
                <a:solidFill>
                  <a:srgbClr val="000000"/>
                </a:solidFill>
                <a:latin typeface="Calibri"/>
                <a:ea typeface="Microsoft YaHei"/>
                <a:cs typeface="Microsoft YaHei"/>
              </a:rPr>
              <a:t>Scope, deployment, and ship each went through an explicit human gate.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6355080"/>
            <a:ext cx="96012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200" b="0" i="1">
                <a:solidFill>
                  <a:srgbClr val="808080"/>
                </a:solidFill>
                <a:latin typeface="Calibri"/>
                <a:ea typeface="Microsoft YaHei"/>
                <a:cs typeface="Microsoft YaHei"/>
              </a:rPr>
              <a:t>reviews/01-05; docs/external_ai_mentor.md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91495" y="635508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200" b="0" i="0">
                <a:solidFill>
                  <a:srgbClr val="808080"/>
                </a:solidFill>
                <a:latin typeface="Calibri"/>
                <a:ea typeface="Microsoft YaHei"/>
                <a:cs typeface="Microsoft YaHei"/>
              </a:rPr>
              <a:t>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20095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600" b="1" i="0">
                <a:solidFill>
                  <a:srgbClr val="1F4E78"/>
                </a:solidFill>
                <a:latin typeface="Calibri"/>
                <a:ea typeface="Microsoft YaHei"/>
                <a:cs typeface="Microsoft YaHei"/>
              </a:rPr>
              <a:t>THE OPERATING MODEL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786384"/>
            <a:ext cx="10820095" cy="103733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8000"/>
              </a:lnSpc>
            </a:pPr>
            <a:r>
              <a:rPr sz="3200" b="1" i="0">
                <a:solidFill>
                  <a:srgbClr val="1F4E78"/>
                </a:solidFill>
                <a:latin typeface="Calibri"/>
                <a:ea typeface="Microsoft YaHei"/>
                <a:cs typeface="Microsoft YaHei"/>
              </a:rPr>
              <a:t>A second AI translates gstack's output into the next precision prompt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933447"/>
            <a:ext cx="10820095" cy="9525"/>
          </a:xfrm>
          <a:prstGeom prst="rect">
            <a:avLst/>
          </a:prstGeom>
          <a:solidFill>
            <a:srgbClr val="1F4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2079751"/>
            <a:ext cx="10820095" cy="7005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0000"/>
              </a:lnSpc>
            </a:pPr>
            <a:r>
              <a:rPr sz="1900" b="0" i="1">
                <a:solidFill>
                  <a:srgbClr val="595959"/>
                </a:solidFill>
                <a:latin typeface="Calibri"/>
                <a:ea typeface="Microsoft YaHei"/>
                <a:cs typeface="Microsoft YaHei"/>
              </a:rPr>
              <a:t>Every arrow crosses through the human. The mentor never touches the repository or talks to gstack directly.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" y="2908299"/>
            <a:ext cx="10820095" cy="446277"/>
          </a:xfrm>
          <a:prstGeom prst="rect">
            <a:avLst/>
          </a:prstGeom>
          <a:solidFill>
            <a:srgbClr val="1F4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13816" y="2981451"/>
            <a:ext cx="3631764" cy="336549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Step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665036" y="2981451"/>
            <a:ext cx="6749418" cy="336549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What happens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3816" y="3427728"/>
            <a:ext cx="3631764" cy="3154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0" i="0">
                <a:solidFill>
                  <a:srgbClr val="000000"/>
                </a:solidFill>
                <a:latin typeface="Calibri"/>
                <a:ea typeface="Microsoft YaHei"/>
                <a:cs typeface="Microsoft YaHei"/>
              </a:rPr>
              <a:t>1. You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65036" y="3427728"/>
            <a:ext cx="6749418" cy="3154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0" i="0">
                <a:solidFill>
                  <a:srgbClr val="000000"/>
                </a:solidFill>
                <a:latin typeface="Calibri"/>
                <a:ea typeface="Microsoft YaHei"/>
                <a:cs typeface="Microsoft YaHei"/>
              </a:rPr>
              <a:t>Read gstack's output. Decide what matters.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85800" y="3779772"/>
            <a:ext cx="10820095" cy="9525"/>
          </a:xfrm>
          <a:prstGeom prst="rect">
            <a:avLst/>
          </a:prstGeom>
          <a:solidFill>
            <a:srgbClr val="D8D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85800" y="3779772"/>
            <a:ext cx="10820095" cy="425196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13816" y="3852924"/>
            <a:ext cx="3631764" cy="3154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0" i="0">
                <a:solidFill>
                  <a:srgbClr val="000000"/>
                </a:solidFill>
                <a:latin typeface="Calibri"/>
                <a:ea typeface="Microsoft YaHei"/>
                <a:cs typeface="Microsoft YaHei"/>
              </a:rPr>
              <a:t>2. External AI mentor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65036" y="3852924"/>
            <a:ext cx="6749418" cy="3154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0" i="0">
                <a:solidFill>
                  <a:srgbClr val="000000"/>
                </a:solidFill>
                <a:latin typeface="Calibri"/>
                <a:ea typeface="Microsoft YaHei"/>
                <a:cs typeface="Microsoft YaHei"/>
              </a:rPr>
              <a:t>Separate session. Translates, corrects, drafts the reply.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85800" y="4204968"/>
            <a:ext cx="10820095" cy="9525"/>
          </a:xfrm>
          <a:prstGeom prst="rect">
            <a:avLst/>
          </a:prstGeom>
          <a:solidFill>
            <a:srgbClr val="D8D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13816" y="4278120"/>
            <a:ext cx="3631764" cy="3154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0" i="0">
                <a:solidFill>
                  <a:srgbClr val="000000"/>
                </a:solidFill>
                <a:latin typeface="Calibri"/>
                <a:ea typeface="Microsoft YaHei"/>
                <a:cs typeface="Microsoft YaHei"/>
              </a:rPr>
              <a:t>3. Optimized prompt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65036" y="4278120"/>
            <a:ext cx="6749418" cy="3154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0" i="0">
                <a:solidFill>
                  <a:srgbClr val="000000"/>
                </a:solidFill>
                <a:latin typeface="Calibri"/>
                <a:ea typeface="Microsoft YaHei"/>
                <a:cs typeface="Microsoft YaHei"/>
              </a:rPr>
              <a:t>Ready to paste — not a summary of what to say.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85800" y="4630164"/>
            <a:ext cx="10820095" cy="9525"/>
          </a:xfrm>
          <a:prstGeom prst="rect">
            <a:avLst/>
          </a:prstGeom>
          <a:solidFill>
            <a:srgbClr val="D8D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85800" y="4630164"/>
            <a:ext cx="10820095" cy="425196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13816" y="4703316"/>
            <a:ext cx="3631764" cy="3154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0" i="0">
                <a:solidFill>
                  <a:srgbClr val="000000"/>
                </a:solidFill>
                <a:latin typeface="Calibri"/>
                <a:ea typeface="Microsoft YaHei"/>
                <a:cs typeface="Microsoft YaHei"/>
              </a:rPr>
              <a:t>4. gstack specialist role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665036" y="4703316"/>
            <a:ext cx="6749418" cy="3154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0" i="0">
                <a:solidFill>
                  <a:srgbClr val="000000"/>
                </a:solidFill>
                <a:latin typeface="Calibri"/>
                <a:ea typeface="Microsoft YaHei"/>
                <a:cs typeface="Microsoft YaHei"/>
              </a:rPr>
              <a:t>CEO, engineer, QA, or DevOps, inside Claude Code.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85800" y="5055360"/>
            <a:ext cx="10820095" cy="9525"/>
          </a:xfrm>
          <a:prstGeom prst="rect">
            <a:avLst/>
          </a:prstGeom>
          <a:solidFill>
            <a:srgbClr val="D8D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13816" y="5128512"/>
            <a:ext cx="3631764" cy="3154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0" i="0">
                <a:solidFill>
                  <a:srgbClr val="000000"/>
                </a:solidFill>
                <a:latin typeface="Calibri"/>
                <a:ea typeface="Microsoft YaHei"/>
                <a:cs typeface="Microsoft YaHei"/>
              </a:rPr>
              <a:t>5. Evidence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665036" y="5128512"/>
            <a:ext cx="6749418" cy="3154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0" i="0">
                <a:solidFill>
                  <a:srgbClr val="000000"/>
                </a:solidFill>
                <a:latin typeface="Calibri"/>
                <a:ea typeface="Microsoft YaHei"/>
                <a:cs typeface="Microsoft YaHei"/>
              </a:rPr>
              <a:t>Code, test output, browser QA, exported artifact.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85800" y="5480556"/>
            <a:ext cx="10820095" cy="9525"/>
          </a:xfrm>
          <a:prstGeom prst="rect">
            <a:avLst/>
          </a:prstGeom>
          <a:solidFill>
            <a:srgbClr val="D8D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85800" y="5480556"/>
            <a:ext cx="10820095" cy="425196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13816" y="5553708"/>
            <a:ext cx="3631764" cy="3154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0" i="0">
                <a:solidFill>
                  <a:srgbClr val="000000"/>
                </a:solidFill>
                <a:latin typeface="Calibri"/>
                <a:ea typeface="Microsoft YaHei"/>
                <a:cs typeface="Microsoft YaHei"/>
              </a:rPr>
              <a:t>6. Human gate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665036" y="5553708"/>
            <a:ext cx="6749418" cy="3154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0" i="0">
                <a:solidFill>
                  <a:srgbClr val="000000"/>
                </a:solidFill>
                <a:latin typeface="Calibri"/>
                <a:ea typeface="Microsoft YaHei"/>
                <a:cs typeface="Microsoft YaHei"/>
              </a:rPr>
              <a:t>You verify. You decide the next move.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85800" y="5905752"/>
            <a:ext cx="10820095" cy="9525"/>
          </a:xfrm>
          <a:prstGeom prst="rect">
            <a:avLst/>
          </a:prstGeom>
          <a:solidFill>
            <a:srgbClr val="D8D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85800" y="6355080"/>
            <a:ext cx="96012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200" b="0" i="1">
                <a:solidFill>
                  <a:srgbClr val="808080"/>
                </a:solidFill>
                <a:latin typeface="Calibri"/>
                <a:ea typeface="Microsoft YaHei"/>
                <a:cs typeface="Microsoft YaHei"/>
              </a:rPr>
              <a:t>docs/external_ai_mentor.md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591495" y="635508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200" b="0" i="0">
                <a:solidFill>
                  <a:srgbClr val="808080"/>
                </a:solidFill>
                <a:latin typeface="Calibri"/>
                <a:ea typeface="Microsoft YaHei"/>
                <a:cs typeface="Microsoft YaHei"/>
              </a:rPr>
              <a:t>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20095" cy="103733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8000"/>
              </a:lnSpc>
            </a:pPr>
            <a:r>
              <a:rPr sz="3200" b="1" i="0">
                <a:solidFill>
                  <a:srgbClr val="1F4E78"/>
                </a:solidFill>
                <a:latin typeface="Calibri"/>
                <a:ea typeface="Microsoft YaHei"/>
                <a:cs typeface="Microsoft YaHei"/>
              </a:rPr>
              <a:t>Five gstack roles ran end to end — one, the PM pass, did not run separately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1604263"/>
            <a:ext cx="10820095" cy="9525"/>
          </a:xfrm>
          <a:prstGeom prst="rect">
            <a:avLst/>
          </a:prstGeom>
          <a:solidFill>
            <a:srgbClr val="1F4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750567"/>
            <a:ext cx="10820095" cy="38684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0000"/>
              </a:lnSpc>
            </a:pPr>
            <a:r>
              <a:rPr sz="1900" b="0" i="1">
                <a:solidFill>
                  <a:srgbClr val="595959"/>
                </a:solidFill>
                <a:latin typeface="Calibri"/>
                <a:ea typeface="Microsoft YaHei"/>
                <a:cs typeface="Microsoft YaHei"/>
              </a:rPr>
              <a:t>The External AI Mentor sits above this table, not as a row inside it — see slide 3.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2265425"/>
            <a:ext cx="10820095" cy="446277"/>
          </a:xfrm>
          <a:prstGeom prst="rect">
            <a:avLst/>
          </a:prstGeom>
          <a:solidFill>
            <a:srgbClr val="1F4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13816" y="2338577"/>
            <a:ext cx="2651181" cy="336549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Role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84453" y="2338577"/>
            <a:ext cx="3755272" cy="336549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Mechanism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59181" y="2338577"/>
            <a:ext cx="3755272" cy="336549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Ran this project?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3816" y="2784854"/>
            <a:ext cx="2651181" cy="3154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0" i="0">
                <a:solidFill>
                  <a:srgbClr val="000000"/>
                </a:solidFill>
                <a:latin typeface="Calibri"/>
                <a:ea typeface="Microsoft YaHei"/>
                <a:cs typeface="Microsoft YaHei"/>
              </a:rPr>
              <a:t>CEO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84453" y="2784854"/>
            <a:ext cx="3755272" cy="3154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0" i="0">
                <a:solidFill>
                  <a:srgbClr val="000000"/>
                </a:solidFill>
                <a:latin typeface="Calibri"/>
                <a:ea typeface="Microsoft YaHei"/>
                <a:cs typeface="Microsoft YaHei"/>
              </a:rPr>
              <a:t>/plan-ceo-review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59181" y="2784854"/>
            <a:ext cx="3755272" cy="3154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0" i="0">
                <a:solidFill>
                  <a:srgbClr val="000000"/>
                </a:solidFill>
                <a:latin typeface="Calibri"/>
                <a:ea typeface="Microsoft YaHei"/>
                <a:cs typeface="Microsoft YaHei"/>
              </a:rPr>
              <a:t>Yes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85800" y="3136898"/>
            <a:ext cx="10820095" cy="9525"/>
          </a:xfrm>
          <a:prstGeom prst="rect">
            <a:avLst/>
          </a:prstGeom>
          <a:solidFill>
            <a:srgbClr val="D8D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85800" y="3136898"/>
            <a:ext cx="10820095" cy="425196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3816" y="3210050"/>
            <a:ext cx="2651181" cy="3154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0" i="0">
                <a:solidFill>
                  <a:srgbClr val="000000"/>
                </a:solidFill>
                <a:latin typeface="Calibri"/>
                <a:ea typeface="Microsoft YaHei"/>
                <a:cs typeface="Microsoft YaHei"/>
              </a:rPr>
              <a:t>PM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84453" y="3210050"/>
            <a:ext cx="3755272" cy="3154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0" i="0">
                <a:solidFill>
                  <a:srgbClr val="000000"/>
                </a:solidFill>
                <a:latin typeface="Calibri"/>
                <a:ea typeface="Microsoft YaHei"/>
                <a:cs typeface="Microsoft YaHei"/>
              </a:rPr>
              <a:t>Not run separately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59181" y="3210050"/>
            <a:ext cx="3755272" cy="3154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0" i="0">
                <a:solidFill>
                  <a:srgbClr val="000000"/>
                </a:solidFill>
                <a:latin typeface="Calibri"/>
                <a:ea typeface="Microsoft YaHei"/>
                <a:cs typeface="Microsoft YaHei"/>
              </a:rPr>
              <a:t>No — stated gap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85800" y="3562094"/>
            <a:ext cx="10820095" cy="9525"/>
          </a:xfrm>
          <a:prstGeom prst="rect">
            <a:avLst/>
          </a:prstGeom>
          <a:solidFill>
            <a:srgbClr val="D8D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13816" y="3635246"/>
            <a:ext cx="2651181" cy="5943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0" i="0">
                <a:solidFill>
                  <a:srgbClr val="000000"/>
                </a:solidFill>
                <a:latin typeface="Calibri"/>
                <a:ea typeface="Microsoft YaHei"/>
                <a:cs typeface="Microsoft YaHei"/>
              </a:rPr>
              <a:t>Architecture / Security / UX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84453" y="3635246"/>
            <a:ext cx="3755272" cy="5943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0" i="0">
                <a:solidFill>
                  <a:srgbClr val="000000"/>
                </a:solidFill>
                <a:latin typeface="Calibri"/>
                <a:ea typeface="Microsoft YaHei"/>
                <a:cs typeface="Microsoft YaHei"/>
              </a:rPr>
              <a:t>Embedded in CEO review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659181" y="3635246"/>
            <a:ext cx="3755272" cy="5943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0" i="0">
                <a:solidFill>
                  <a:srgbClr val="000000"/>
                </a:solidFill>
                <a:latin typeface="Calibri"/>
                <a:ea typeface="Microsoft YaHei"/>
                <a:cs typeface="Microsoft YaHei"/>
              </a:rPr>
              <a:t>Yes, not separate roles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85800" y="4266182"/>
            <a:ext cx="10820095" cy="9525"/>
          </a:xfrm>
          <a:prstGeom prst="rect">
            <a:avLst/>
          </a:prstGeom>
          <a:solidFill>
            <a:srgbClr val="D8D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85800" y="4266182"/>
            <a:ext cx="10820095" cy="425196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13816" y="4339334"/>
            <a:ext cx="2651181" cy="3154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0" i="0">
                <a:solidFill>
                  <a:srgbClr val="000000"/>
                </a:solidFill>
                <a:latin typeface="Calibri"/>
                <a:ea typeface="Microsoft YaHei"/>
                <a:cs typeface="Microsoft YaHei"/>
              </a:rPr>
              <a:t>Second Opinion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84453" y="4339334"/>
            <a:ext cx="3755272" cy="3154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0" i="0">
                <a:solidFill>
                  <a:srgbClr val="000000"/>
                </a:solidFill>
                <a:latin typeface="Calibri"/>
                <a:ea typeface="Microsoft YaHei"/>
                <a:cs typeface="Microsoft YaHei"/>
              </a:rPr>
              <a:t>Fresh-context subagent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659181" y="4339334"/>
            <a:ext cx="3755272" cy="3154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0" i="0">
                <a:solidFill>
                  <a:srgbClr val="000000"/>
                </a:solidFill>
                <a:latin typeface="Calibri"/>
                <a:ea typeface="Microsoft YaHei"/>
                <a:cs typeface="Microsoft YaHei"/>
              </a:rPr>
              <a:t>Yes — same-model fallback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85800" y="4691378"/>
            <a:ext cx="10820095" cy="9525"/>
          </a:xfrm>
          <a:prstGeom prst="rect">
            <a:avLst/>
          </a:prstGeom>
          <a:solidFill>
            <a:srgbClr val="D8D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13816" y="4764530"/>
            <a:ext cx="2651181" cy="3154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0" i="0">
                <a:solidFill>
                  <a:srgbClr val="000000"/>
                </a:solidFill>
                <a:latin typeface="Calibri"/>
                <a:ea typeface="Microsoft YaHei"/>
                <a:cs typeface="Microsoft YaHei"/>
              </a:rPr>
              <a:t>Engineer / Eng Review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684453" y="4764530"/>
            <a:ext cx="3755272" cy="3154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0" i="0">
                <a:solidFill>
                  <a:srgbClr val="000000"/>
                </a:solidFill>
                <a:latin typeface="Calibri"/>
                <a:ea typeface="Microsoft YaHei"/>
                <a:cs typeface="Microsoft YaHei"/>
              </a:rPr>
              <a:t>/plan-eng-review + mentor charter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659181" y="4764530"/>
            <a:ext cx="3755272" cy="3154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0" i="0">
                <a:solidFill>
                  <a:srgbClr val="000000"/>
                </a:solidFill>
                <a:latin typeface="Calibri"/>
                <a:ea typeface="Microsoft YaHei"/>
                <a:cs typeface="Microsoft YaHei"/>
              </a:rPr>
              <a:t>Yes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85800" y="5116574"/>
            <a:ext cx="10820095" cy="9525"/>
          </a:xfrm>
          <a:prstGeom prst="rect">
            <a:avLst/>
          </a:prstGeom>
          <a:solidFill>
            <a:srgbClr val="D8D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85800" y="5116574"/>
            <a:ext cx="10820095" cy="425196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13816" y="5189726"/>
            <a:ext cx="2651181" cy="3154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0" i="0">
                <a:solidFill>
                  <a:srgbClr val="000000"/>
                </a:solidFill>
                <a:latin typeface="Calibri"/>
                <a:ea typeface="Microsoft YaHei"/>
                <a:cs typeface="Microsoft YaHei"/>
              </a:rPr>
              <a:t>QA / Browser QA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684453" y="5189726"/>
            <a:ext cx="3755272" cy="3154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0" i="0">
                <a:solidFill>
                  <a:srgbClr val="000000"/>
                </a:solidFill>
                <a:latin typeface="Calibri"/>
                <a:ea typeface="Microsoft YaHei"/>
                <a:cs typeface="Microsoft YaHei"/>
              </a:rPr>
              <a:t>Manual QC + Aside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659181" y="5189726"/>
            <a:ext cx="3755272" cy="3154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0" i="0">
                <a:solidFill>
                  <a:srgbClr val="000000"/>
                </a:solidFill>
                <a:latin typeface="Calibri"/>
                <a:ea typeface="Microsoft YaHei"/>
                <a:cs typeface="Microsoft YaHei"/>
              </a:rPr>
              <a:t>Yes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85800" y="5541770"/>
            <a:ext cx="10820095" cy="9525"/>
          </a:xfrm>
          <a:prstGeom prst="rect">
            <a:avLst/>
          </a:prstGeom>
          <a:solidFill>
            <a:srgbClr val="D8D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13816" y="5614922"/>
            <a:ext cx="2651181" cy="3154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0" i="0">
                <a:solidFill>
                  <a:srgbClr val="000000"/>
                </a:solidFill>
                <a:latin typeface="Calibri"/>
                <a:ea typeface="Microsoft YaHei"/>
                <a:cs typeface="Microsoft YaHei"/>
              </a:rPr>
              <a:t>DevOps / Ship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84453" y="5614922"/>
            <a:ext cx="3755272" cy="3154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0" i="0">
                <a:solidFill>
                  <a:srgbClr val="000000"/>
                </a:solidFill>
                <a:latin typeface="Calibri"/>
                <a:ea typeface="Microsoft YaHei"/>
                <a:cs typeface="Microsoft YaHei"/>
              </a:rPr>
              <a:t>Ship Mode (mentor-authored)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659181" y="5614922"/>
            <a:ext cx="3755272" cy="3154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0" i="0">
                <a:solidFill>
                  <a:srgbClr val="000000"/>
                </a:solidFill>
                <a:latin typeface="Calibri"/>
                <a:ea typeface="Microsoft YaHei"/>
                <a:cs typeface="Microsoft YaHei"/>
              </a:rPr>
              <a:t>Yes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85800" y="5966966"/>
            <a:ext cx="10820095" cy="9525"/>
          </a:xfrm>
          <a:prstGeom prst="rect">
            <a:avLst/>
          </a:prstGeom>
          <a:solidFill>
            <a:srgbClr val="D8D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85800" y="6355080"/>
            <a:ext cx="96012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200" b="0" i="1">
                <a:solidFill>
                  <a:srgbClr val="808080"/>
                </a:solidFill>
                <a:latin typeface="Calibri"/>
                <a:ea typeface="Microsoft YaHei"/>
                <a:cs typeface="Microsoft YaHei"/>
              </a:rPr>
              <a:t>PLAN.md §2; reviews/01-05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591495" y="635508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200" b="0" i="0">
                <a:solidFill>
                  <a:srgbClr val="808080"/>
                </a:solidFill>
                <a:latin typeface="Calibri"/>
                <a:ea typeface="Microsoft YaHei"/>
                <a:cs typeface="Microsoft YaHei"/>
              </a:rPr>
              <a:t>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20095" cy="103733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8000"/>
              </a:lnSpc>
            </a:pPr>
            <a:r>
              <a:rPr sz="3200" b="1" i="0">
                <a:solidFill>
                  <a:srgbClr val="1F4E78"/>
                </a:solidFill>
                <a:latin typeface="Calibri"/>
                <a:ea typeface="Microsoft YaHei"/>
                <a:cs typeface="Microsoft YaHei"/>
              </a:rPr>
              <a:t>V1 shipped both tweet modes; automatic thread discovery and paid APIs were explicitly rejected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1604263"/>
            <a:ext cx="10820095" cy="9525"/>
          </a:xfrm>
          <a:prstGeom prst="rect">
            <a:avLst/>
          </a:prstGeom>
          <a:solidFill>
            <a:srgbClr val="1F4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85800" y="1750567"/>
            <a:ext cx="5250027" cy="4467353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1750567"/>
            <a:ext cx="5250027" cy="502920"/>
          </a:xfrm>
          <a:prstGeom prst="rect">
            <a:avLst/>
          </a:prstGeom>
          <a:solidFill>
            <a:srgbClr val="1E7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5256" y="1869439"/>
            <a:ext cx="4811115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IN SCOPE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256" y="2463799"/>
            <a:ext cx="4811115" cy="3644393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2000"/>
              </a:lnSpc>
              <a:spcAft>
                <a:spcPts val="800"/>
              </a:spcAft>
            </a:pPr>
            <a:r>
              <a:rPr sz="2200" b="0" i="0">
                <a:solidFill>
                  <a:srgbClr val="000000"/>
                </a:solidFill>
                <a:latin typeface="Calibri"/>
                <a:ea typeface="Microsoft YaHei"/>
                <a:cs typeface="Microsoft YaHei"/>
              </a:rPr>
              <a:t>Single tweet: paste URL, customize, export PNG / clipboard / share link</a:t>
            </a:r>
          </a:p>
          <a:p>
            <a:pPr algn="l">
              <a:lnSpc>
                <a:spcPct val="122000"/>
              </a:lnSpc>
              <a:spcAft>
                <a:spcPts val="800"/>
              </a:spcAft>
            </a:pPr>
            <a:r>
              <a:rPr sz="2200" b="0" i="0">
                <a:solidFill>
                  <a:srgbClr val="000000"/>
                </a:solidFill>
                <a:latin typeface="Calibri"/>
                <a:ea typeface="Microsoft YaHei"/>
                <a:cs typeface="Microsoft YaHei"/>
              </a:rPr>
              <a:t>Thread mode: manual multi-URL builder, reorder, combined export</a:t>
            </a:r>
          </a:p>
          <a:p>
            <a:pPr algn="l">
              <a:lnSpc>
                <a:spcPct val="122000"/>
              </a:lnSpc>
              <a:spcAft>
                <a:spcPts val="800"/>
              </a:spcAft>
            </a:pPr>
            <a:r>
              <a:rPr sz="2200" b="0" i="0">
                <a:solidFill>
                  <a:srgbClr val="000000"/>
                </a:solidFill>
                <a:latin typeface="Calibri"/>
                <a:ea typeface="Microsoft YaHei"/>
                <a:cs typeface="Microsoft YaHei"/>
              </a:rPr>
              <a:t>No paid X API — free public syndication endpoint only</a:t>
            </a:r>
          </a:p>
        </p:txBody>
      </p:sp>
      <p:sp>
        <p:nvSpPr>
          <p:cNvPr id="8" name="Rectangle 7"/>
          <p:cNvSpPr/>
          <p:nvPr/>
        </p:nvSpPr>
        <p:spPr>
          <a:xfrm>
            <a:off x="6255867" y="1750567"/>
            <a:ext cx="5250027" cy="4467353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255867" y="1750567"/>
            <a:ext cx="5250027" cy="502920"/>
          </a:xfrm>
          <a:prstGeom prst="rect">
            <a:avLst/>
          </a:prstGeom>
          <a:solidFill>
            <a:srgbClr val="A31D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75323" y="1869439"/>
            <a:ext cx="4811115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OUT OF SCOPE (STATED)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75323" y="2463799"/>
            <a:ext cx="4811115" cy="3644393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2000"/>
              </a:lnSpc>
              <a:spcAft>
                <a:spcPts val="800"/>
              </a:spcAft>
            </a:pPr>
            <a:r>
              <a:rPr sz="2200" b="0" i="0">
                <a:solidFill>
                  <a:srgbClr val="000000"/>
                </a:solidFill>
                <a:latin typeface="Calibri"/>
                <a:ea typeface="Microsoft YaHei"/>
                <a:cs typeface="Microsoft YaHei"/>
              </a:rPr>
              <a:t>Automatic thread discovery — no free data source supports it</a:t>
            </a:r>
          </a:p>
          <a:p>
            <a:pPr algn="l">
              <a:lnSpc>
                <a:spcPct val="122000"/>
              </a:lnSpc>
              <a:spcAft>
                <a:spcPts val="800"/>
              </a:spcAft>
            </a:pPr>
            <a:r>
              <a:rPr sz="2200" b="0" i="0">
                <a:solidFill>
                  <a:srgbClr val="000000"/>
                </a:solidFill>
                <a:latin typeface="Calibri"/>
                <a:ea typeface="Microsoft YaHei"/>
                <a:cs typeface="Microsoft YaHei"/>
              </a:rPr>
              <a:t>Browser extension for one-click capture</a:t>
            </a:r>
          </a:p>
          <a:p>
            <a:pPr algn="l">
              <a:lnSpc>
                <a:spcPct val="122000"/>
              </a:lnSpc>
              <a:spcAft>
                <a:spcPts val="800"/>
              </a:spcAft>
            </a:pPr>
            <a:r>
              <a:rPr sz="2200" b="0" i="0">
                <a:solidFill>
                  <a:srgbClr val="000000"/>
                </a:solidFill>
                <a:latin typeface="Calibri"/>
                <a:ea typeface="Microsoft YaHei"/>
                <a:cs typeface="Microsoft YaHei"/>
              </a:rPr>
              <a:t>Public headless generation API / CLI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6355080"/>
            <a:ext cx="96012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200" b="0" i="1">
                <a:solidFill>
                  <a:srgbClr val="808080"/>
                </a:solidFill>
                <a:latin typeface="Calibri"/>
                <a:ea typeface="Microsoft YaHei"/>
                <a:cs typeface="Microsoft YaHei"/>
              </a:rPr>
              <a:t>reviews/01-ceo-review.md; TODOS.md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91495" y="635508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200" b="0" i="0">
                <a:solidFill>
                  <a:srgbClr val="808080"/>
                </a:solidFill>
                <a:latin typeface="Calibri"/>
                <a:ea typeface="Microsoft YaHei"/>
                <a:cs typeface="Microsoft YaHei"/>
              </a:rPr>
              <a:t>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20095" cy="103733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8000"/>
              </a:lnSpc>
            </a:pPr>
            <a:r>
              <a:rPr sz="3200" b="1" i="0">
                <a:solidFill>
                  <a:srgbClr val="1F4E78"/>
                </a:solidFill>
                <a:latin typeface="Calibri"/>
                <a:ea typeface="Microsoft YaHei"/>
                <a:cs typeface="Microsoft YaHei"/>
              </a:rPr>
              <a:t>A server-side hop and a hardened proxy work around what a free API can't do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1604263"/>
            <a:ext cx="10820095" cy="9525"/>
          </a:xfrm>
          <a:prstGeom prst="rect">
            <a:avLst/>
          </a:prstGeom>
          <a:solidFill>
            <a:srgbClr val="1F4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85800" y="1750567"/>
            <a:ext cx="10820095" cy="446277"/>
          </a:xfrm>
          <a:prstGeom prst="rect">
            <a:avLst/>
          </a:prstGeom>
          <a:solidFill>
            <a:srgbClr val="1F4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13816" y="1823719"/>
            <a:ext cx="2898198" cy="336549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Component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931470" y="1823719"/>
            <a:ext cx="7482984" cy="336549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Role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13816" y="2269996"/>
            <a:ext cx="2898198" cy="3774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</a:pPr>
            <a:r>
              <a:rPr sz="2200" b="0" i="0">
                <a:solidFill>
                  <a:srgbClr val="000000"/>
                </a:solidFill>
                <a:latin typeface="Calibri"/>
                <a:ea typeface="Microsoft YaHei"/>
                <a:cs typeface="Microsoft YaHei"/>
              </a:rPr>
              <a:t>Next.js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931470" y="2269996"/>
            <a:ext cx="7482984" cy="3774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</a:pPr>
            <a:r>
              <a:rPr sz="2200" b="0" i="0">
                <a:solidFill>
                  <a:srgbClr val="000000"/>
                </a:solidFill>
                <a:latin typeface="Calibri"/>
                <a:ea typeface="Microsoft YaHei"/>
                <a:cs typeface="Microsoft YaHei"/>
              </a:rPr>
              <a:t>App Router, TypeScript, hosted on Vercel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2684016"/>
            <a:ext cx="10820095" cy="9525"/>
          </a:xfrm>
          <a:prstGeom prst="rect">
            <a:avLst/>
          </a:prstGeom>
          <a:solidFill>
            <a:srgbClr val="D8D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85800" y="2684016"/>
            <a:ext cx="10820095" cy="487172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13816" y="2757168"/>
            <a:ext cx="2898198" cy="3774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</a:pPr>
            <a:r>
              <a:rPr sz="2200" b="0" i="0">
                <a:solidFill>
                  <a:srgbClr val="000000"/>
                </a:solidFill>
                <a:latin typeface="Calibri"/>
                <a:ea typeface="Microsoft YaHei"/>
                <a:cs typeface="Microsoft YaHei"/>
              </a:rPr>
              <a:t>react-tweet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931470" y="2757168"/>
            <a:ext cx="7482984" cy="3774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</a:pPr>
            <a:r>
              <a:rPr sz="2200" b="0" i="0">
                <a:solidFill>
                  <a:srgbClr val="000000"/>
                </a:solidFill>
                <a:latin typeface="Calibri"/>
                <a:ea typeface="Microsoft YaHei"/>
                <a:cs typeface="Microsoft YaHei"/>
              </a:rPr>
              <a:t>Fetches via X's free public syndication endpoint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85800" y="3171188"/>
            <a:ext cx="10820095" cy="9525"/>
          </a:xfrm>
          <a:prstGeom prst="rect">
            <a:avLst/>
          </a:prstGeom>
          <a:solidFill>
            <a:srgbClr val="D8D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3816" y="3244340"/>
            <a:ext cx="2898198" cy="71831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</a:pPr>
            <a:r>
              <a:rPr sz="2200" b="0" i="0">
                <a:solidFill>
                  <a:srgbClr val="000000"/>
                </a:solidFill>
                <a:latin typeface="Calibri"/>
                <a:ea typeface="Microsoft YaHei"/>
                <a:cs typeface="Microsoft YaHei"/>
              </a:rPr>
              <a:t>Server route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931470" y="3244340"/>
            <a:ext cx="7482984" cy="71831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</a:pPr>
            <a:r>
              <a:rPr sz="2200" b="0" i="0">
                <a:solidFill>
                  <a:srgbClr val="000000"/>
                </a:solidFill>
                <a:latin typeface="Calibri"/>
                <a:ea typeface="Microsoft YaHei"/>
                <a:cs typeface="Microsoft YaHei"/>
              </a:rPr>
              <a:t>/api/tweet/[id] — server-side only; CORS blocks direct browser fetch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85800" y="3999228"/>
            <a:ext cx="10820095" cy="9525"/>
          </a:xfrm>
          <a:prstGeom prst="rect">
            <a:avLst/>
          </a:prstGeom>
          <a:solidFill>
            <a:srgbClr val="D8D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85800" y="3999228"/>
            <a:ext cx="10820095" cy="82804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13816" y="4072380"/>
            <a:ext cx="2898198" cy="71831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</a:pPr>
            <a:r>
              <a:rPr sz="2200" b="0" i="0">
                <a:solidFill>
                  <a:srgbClr val="000000"/>
                </a:solidFill>
                <a:latin typeface="Calibri"/>
                <a:ea typeface="Microsoft YaHei"/>
                <a:cs typeface="Microsoft YaHei"/>
              </a:rPr>
              <a:t>Image proxy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931470" y="4072380"/>
            <a:ext cx="7482984" cy="71831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</a:pPr>
            <a:r>
              <a:rPr sz="2200" b="0" i="0">
                <a:solidFill>
                  <a:srgbClr val="000000"/>
                </a:solidFill>
                <a:latin typeface="Calibri"/>
                <a:ea typeface="Microsoft YaHei"/>
                <a:cs typeface="Microsoft YaHei"/>
              </a:rPr>
              <a:t>SSRF-hardened: exact-host allowlist, https-only, size cap, MIME check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85800" y="4827268"/>
            <a:ext cx="10820095" cy="9525"/>
          </a:xfrm>
          <a:prstGeom prst="rect">
            <a:avLst/>
          </a:prstGeom>
          <a:solidFill>
            <a:srgbClr val="D8D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13816" y="4900420"/>
            <a:ext cx="2898198" cy="71831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</a:pPr>
            <a:r>
              <a:rPr sz="2200" b="0" i="0">
                <a:solidFill>
                  <a:srgbClr val="000000"/>
                </a:solidFill>
                <a:latin typeface="Calibri"/>
                <a:ea typeface="Microsoft YaHei"/>
                <a:cs typeface="Microsoft YaHei"/>
              </a:rPr>
              <a:t>modern-screenshot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931470" y="4900420"/>
            <a:ext cx="7482984" cy="71831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</a:pPr>
            <a:r>
              <a:rPr sz="2200" b="0" i="0">
                <a:solidFill>
                  <a:srgbClr val="000000"/>
                </a:solidFill>
                <a:latin typeface="Calibri"/>
                <a:ea typeface="Microsoft YaHei"/>
                <a:cs typeface="Microsoft YaHei"/>
              </a:rPr>
              <a:t>DOM → PNG export, routed through the proxy at capture time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85800" y="5655308"/>
            <a:ext cx="10820095" cy="9525"/>
          </a:xfrm>
          <a:prstGeom prst="rect">
            <a:avLst/>
          </a:prstGeom>
          <a:solidFill>
            <a:srgbClr val="D8D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85800" y="6355080"/>
            <a:ext cx="96012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200" b="0" i="1">
                <a:solidFill>
                  <a:srgbClr val="808080"/>
                </a:solidFill>
                <a:latin typeface="Calibri"/>
                <a:ea typeface="Microsoft YaHei"/>
                <a:cs typeface="Microsoft YaHei"/>
              </a:rPr>
              <a:t>README.md “Architecture note”; reviews/01, 04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591495" y="635508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200" b="0" i="0">
                <a:solidFill>
                  <a:srgbClr val="808080"/>
                </a:solidFill>
                <a:latin typeface="Calibri"/>
                <a:ea typeface="Microsoft YaHei"/>
                <a:cs typeface="Microsoft YaHei"/>
              </a:rPr>
              <a:t>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20095" cy="103733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8000"/>
              </a:lnSpc>
            </a:pPr>
            <a:r>
              <a:rPr sz="3200" b="1" i="0">
                <a:solidFill>
                  <a:srgbClr val="1F4E78"/>
                </a:solidFill>
                <a:latin typeface="Calibri"/>
                <a:ea typeface="Microsoft YaHei"/>
                <a:cs typeface="Microsoft YaHei"/>
              </a:rPr>
              <a:t>A genuinely independent pass corrected the plan on four real points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1604263"/>
            <a:ext cx="10820095" cy="9525"/>
          </a:xfrm>
          <a:prstGeom prst="rect">
            <a:avLst/>
          </a:prstGeom>
          <a:solidFill>
            <a:srgbClr val="1F4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85800" y="1750567"/>
            <a:ext cx="10820095" cy="446277"/>
          </a:xfrm>
          <a:prstGeom prst="rect">
            <a:avLst/>
          </a:prstGeom>
          <a:solidFill>
            <a:srgbClr val="1F4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13816" y="1823719"/>
            <a:ext cx="2786125" cy="336549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Tension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19397" y="1823719"/>
            <a:ext cx="4188730" cy="336549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Why it mattered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7583" y="1823719"/>
            <a:ext cx="3186870" cy="336549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Resolution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13816" y="2269996"/>
            <a:ext cx="2786125" cy="87325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0" i="0">
                <a:solidFill>
                  <a:srgbClr val="000000"/>
                </a:solidFill>
                <a:latin typeface="Calibri"/>
                <a:ea typeface="Microsoft YaHei"/>
                <a:cs typeface="Microsoft YaHei"/>
              </a:rPr>
              <a:t>Rate limit vs. “no secrets”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19397" y="2269996"/>
            <a:ext cx="4188730" cy="87325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0" i="0">
                <a:solidFill>
                  <a:srgbClr val="000000"/>
                </a:solidFill>
                <a:latin typeface="Calibri"/>
                <a:ea typeface="Microsoft YaHei"/>
                <a:cs typeface="Microsoft YaHei"/>
              </a:rPr>
              <a:t>Serverless in-memory counters reset every cold start — a limiter built that way would silently do nothing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7583" y="2269996"/>
            <a:ext cx="3186870" cy="87325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0" i="0">
                <a:solidFill>
                  <a:srgbClr val="000000"/>
                </a:solidFill>
                <a:latin typeface="Calibri"/>
                <a:ea typeface="Microsoft YaHei"/>
                <a:cs typeface="Microsoft YaHei"/>
              </a:rPr>
              <a:t>Corrected: real limiting needs shared state (Upstash/KV)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85800" y="3179824"/>
            <a:ext cx="10820095" cy="9525"/>
          </a:xfrm>
          <a:prstGeom prst="rect">
            <a:avLst/>
          </a:prstGeom>
          <a:solidFill>
            <a:srgbClr val="D8D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85800" y="3179824"/>
            <a:ext cx="10820095" cy="704088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13816" y="3252976"/>
            <a:ext cx="2786125" cy="5943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0" i="0">
                <a:solidFill>
                  <a:srgbClr val="000000"/>
                </a:solidFill>
                <a:latin typeface="Calibri"/>
                <a:ea typeface="Microsoft YaHei"/>
                <a:cs typeface="Microsoft YaHei"/>
              </a:rPr>
              <a:t>Safari clipboard gesture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19397" y="3252976"/>
            <a:ext cx="4188730" cy="5943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0" i="0">
                <a:solidFill>
                  <a:srgbClr val="000000"/>
                </a:solidFill>
                <a:latin typeface="Calibri"/>
                <a:ea typeface="Microsoft YaHei"/>
                <a:cs typeface="Microsoft YaHei"/>
              </a:rPr>
              <a:t>The approved fix would break on Safari/iOS's synchronous-gesture requirement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7583" y="3252976"/>
            <a:ext cx="3186870" cy="5943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0" i="0">
                <a:solidFill>
                  <a:srgbClr val="000000"/>
                </a:solidFill>
                <a:latin typeface="Calibri"/>
                <a:ea typeface="Microsoft YaHei"/>
                <a:cs typeface="Microsoft YaHei"/>
              </a:rPr>
              <a:t>ClipboardItem wraps a Promise&lt;Blob&gt;, never awaited first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85800" y="3883912"/>
            <a:ext cx="10820095" cy="9525"/>
          </a:xfrm>
          <a:prstGeom prst="rect">
            <a:avLst/>
          </a:prstGeom>
          <a:solidFill>
            <a:srgbClr val="D8D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13816" y="3957064"/>
            <a:ext cx="2786125" cy="5943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0" i="0">
                <a:solidFill>
                  <a:srgbClr val="000000"/>
                </a:solidFill>
                <a:latin typeface="Calibri"/>
                <a:ea typeface="Microsoft YaHei"/>
                <a:cs typeface="Microsoft YaHei"/>
              </a:rPr>
              <a:t>Video export undefined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819397" y="3957064"/>
            <a:ext cx="4188730" cy="5943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0" i="0">
                <a:solidFill>
                  <a:srgbClr val="000000"/>
                </a:solidFill>
                <a:latin typeface="Calibri"/>
                <a:ea typeface="Microsoft YaHei"/>
                <a:cs typeface="Microsoft YaHei"/>
              </a:rPr>
              <a:t>Would have shipped as “whatever frame happens to paint,” randomly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7583" y="3957064"/>
            <a:ext cx="3186870" cy="5943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0" i="0">
                <a:solidFill>
                  <a:srgbClr val="000000"/>
                </a:solidFill>
                <a:latin typeface="Calibri"/>
                <a:ea typeface="Microsoft YaHei"/>
                <a:cs typeface="Microsoft YaHei"/>
              </a:rPr>
              <a:t>Poster-frame swap + play-icon badge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85800" y="4588000"/>
            <a:ext cx="10820095" cy="9525"/>
          </a:xfrm>
          <a:prstGeom prst="rect">
            <a:avLst/>
          </a:prstGeom>
          <a:solidFill>
            <a:srgbClr val="D8D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85800" y="4588000"/>
            <a:ext cx="10820095" cy="704088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13816" y="4661152"/>
            <a:ext cx="2786125" cy="5943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0" i="0">
                <a:solidFill>
                  <a:srgbClr val="000000"/>
                </a:solidFill>
                <a:latin typeface="Calibri"/>
                <a:ea typeface="Microsoft YaHei"/>
                <a:cs typeface="Microsoft YaHei"/>
              </a:rPr>
              <a:t>Thread URL length uncapped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819397" y="4661152"/>
            <a:ext cx="4188730" cy="5943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0" i="0">
                <a:solidFill>
                  <a:srgbClr val="000000"/>
                </a:solidFill>
                <a:latin typeface="Calibri"/>
                <a:ea typeface="Microsoft YaHei"/>
                <a:cs typeface="Microsoft YaHei"/>
              </a:rPr>
              <a:t>A real thread could silently break its own share link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7583" y="4661152"/>
            <a:ext cx="3186870" cy="5943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0" i="0">
                <a:solidFill>
                  <a:srgbClr val="000000"/>
                </a:solidFill>
                <a:latin typeface="Calibri"/>
                <a:ea typeface="Microsoft YaHei"/>
                <a:cs typeface="Microsoft YaHei"/>
              </a:rPr>
              <a:t>Hard cap ≈ 12 tweets, explicit message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85800" y="5292088"/>
            <a:ext cx="10820095" cy="9525"/>
          </a:xfrm>
          <a:prstGeom prst="rect">
            <a:avLst/>
          </a:prstGeom>
          <a:solidFill>
            <a:srgbClr val="D8D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85800" y="6355080"/>
            <a:ext cx="96012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200" b="0" i="1">
                <a:solidFill>
                  <a:srgbClr val="808080"/>
                </a:solidFill>
                <a:latin typeface="Calibri"/>
                <a:ea typeface="Microsoft YaHei"/>
                <a:cs typeface="Microsoft YaHei"/>
              </a:rPr>
              <a:t>reviews/03-eng-review.md (OV-1 to OV-4)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591495" y="635508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200" b="0" i="0">
                <a:solidFill>
                  <a:srgbClr val="808080"/>
                </a:solidFill>
                <a:latin typeface="Calibri"/>
                <a:ea typeface="Microsoft YaHei"/>
                <a:cs typeface="Microsoft YaHei"/>
              </a:rPr>
              <a:t>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20095" cy="103733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8000"/>
              </a:lnSpc>
            </a:pPr>
            <a:r>
              <a:rPr sz="3200" b="1" i="0">
                <a:solidFill>
                  <a:srgbClr val="1F4E78"/>
                </a:solidFill>
                <a:latin typeface="Calibri"/>
                <a:ea typeface="Microsoft YaHei"/>
                <a:cs typeface="Microsoft YaHei"/>
              </a:rPr>
              <a:t>The single most consequential finding: a planned fix was never wired to real code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1604263"/>
            <a:ext cx="10820095" cy="9525"/>
          </a:xfrm>
          <a:prstGeom prst="rect">
            <a:avLst/>
          </a:prstGeom>
          <a:solidFill>
            <a:srgbClr val="1F4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85800" y="1750567"/>
            <a:ext cx="10820095" cy="446277"/>
          </a:xfrm>
          <a:prstGeom prst="rect">
            <a:avLst/>
          </a:prstGeom>
          <a:solidFill>
            <a:srgbClr val="1F4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13816" y="1823719"/>
            <a:ext cx="2986498" cy="336549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Finding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019770" y="1823719"/>
            <a:ext cx="4188730" cy="336549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What was actually wrong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27956" y="1823719"/>
            <a:ext cx="2986498" cy="336549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Remedy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13816" y="2269996"/>
            <a:ext cx="2986498" cy="1059179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</a:pPr>
            <a:r>
              <a:rPr sz="2200" b="0" i="0">
                <a:solidFill>
                  <a:srgbClr val="000000"/>
                </a:solidFill>
                <a:latin typeface="Calibri"/>
                <a:ea typeface="Microsoft YaHei"/>
                <a:cs typeface="Microsoft YaHei"/>
              </a:rPr>
              <a:t>B1 — Image proxy never wired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019770" y="2269996"/>
            <a:ext cx="4188730" cy="1059179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</a:pPr>
            <a:r>
              <a:rPr sz="2200" b="0" i="0">
                <a:solidFill>
                  <a:srgbClr val="000000"/>
                </a:solidFill>
                <a:latin typeface="Calibri"/>
                <a:ea typeface="Microsoft YaHei"/>
                <a:cs typeface="Microsoft YaHei"/>
              </a:rPr>
              <a:t>react-tweet renders plain &lt;img&gt; at pbs.twimg.com; nothing in the plan rewired that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27956" y="2269996"/>
            <a:ext cx="2986498" cy="1059179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</a:pPr>
            <a:r>
              <a:rPr sz="2200" b="0" i="0">
                <a:solidFill>
                  <a:srgbClr val="000000"/>
                </a:solidFill>
                <a:latin typeface="Calibri"/>
                <a:ea typeface="Microsoft YaHei"/>
                <a:cs typeface="Microsoft YaHei"/>
              </a:rPr>
              <a:t>Mandatory T1.5 spike inserted before broad implementation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85800" y="3365751"/>
            <a:ext cx="10820095" cy="9525"/>
          </a:xfrm>
          <a:prstGeom prst="rect">
            <a:avLst/>
          </a:prstGeom>
          <a:solidFill>
            <a:srgbClr val="D8D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85800" y="3365751"/>
            <a:ext cx="10820095" cy="1168907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13816" y="3438903"/>
            <a:ext cx="2986498" cy="1059179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</a:pPr>
            <a:r>
              <a:rPr sz="2200" b="0" i="0">
                <a:solidFill>
                  <a:srgbClr val="000000"/>
                </a:solidFill>
                <a:latin typeface="Calibri"/>
                <a:ea typeface="Microsoft YaHei"/>
                <a:cs typeface="Microsoft YaHei"/>
              </a:rPr>
              <a:t>B2 — Proxy hardening incomplete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019770" y="3438903"/>
            <a:ext cx="4188730" cy="1059179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</a:pPr>
            <a:r>
              <a:rPr sz="2200" b="0" i="0">
                <a:solidFill>
                  <a:srgbClr val="000000"/>
                </a:solidFill>
                <a:latin typeface="Calibri"/>
                <a:ea typeface="Microsoft YaHei"/>
                <a:cs typeface="Microsoft YaHei"/>
              </a:rPr>
              <a:t>No redirect re-validation, protocol check, size cap, or MIME check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27956" y="3438903"/>
            <a:ext cx="2986498" cy="1059179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</a:pPr>
            <a:r>
              <a:rPr sz="2200" b="0" i="0">
                <a:solidFill>
                  <a:srgbClr val="000000"/>
                </a:solidFill>
                <a:latin typeface="Calibri"/>
                <a:ea typeface="Microsoft YaHei"/>
                <a:cs typeface="Microsoft YaHei"/>
              </a:rPr>
              <a:t>All four added before any code existed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85800" y="4534658"/>
            <a:ext cx="10820095" cy="9525"/>
          </a:xfrm>
          <a:prstGeom prst="rect">
            <a:avLst/>
          </a:prstGeom>
          <a:solidFill>
            <a:srgbClr val="D8D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13816" y="4607810"/>
            <a:ext cx="2986498" cy="1059179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</a:pPr>
            <a:r>
              <a:rPr sz="2200" b="0" i="0">
                <a:solidFill>
                  <a:srgbClr val="000000"/>
                </a:solidFill>
                <a:latin typeface="Calibri"/>
                <a:ea typeface="Microsoft YaHei"/>
                <a:cs typeface="Microsoft YaHei"/>
              </a:rPr>
              <a:t>B3 — Images not awaited before capture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019770" y="4607810"/>
            <a:ext cx="4188730" cy="1059179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</a:pPr>
            <a:r>
              <a:rPr sz="2200" b="0" i="0">
                <a:solidFill>
                  <a:srgbClr val="000000"/>
                </a:solidFill>
                <a:latin typeface="Calibri"/>
                <a:ea typeface="Microsoft YaHei"/>
                <a:cs typeface="Microsoft YaHei"/>
              </a:rPr>
              <a:t>Same silent-wrong-output bug class as the font race the CEO review had already found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27956" y="4607810"/>
            <a:ext cx="2986498" cy="1059179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</a:pPr>
            <a:r>
              <a:rPr sz="2200" b="0" i="0">
                <a:solidFill>
                  <a:srgbClr val="000000"/>
                </a:solidFill>
                <a:latin typeface="Calibri"/>
                <a:ea typeface="Microsoft YaHei"/>
                <a:cs typeface="Microsoft YaHei"/>
              </a:rPr>
              <a:t>await Promise.all(images.map(img =&gt; img.decode()))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85800" y="5703565"/>
            <a:ext cx="10820095" cy="9525"/>
          </a:xfrm>
          <a:prstGeom prst="rect">
            <a:avLst/>
          </a:prstGeom>
          <a:solidFill>
            <a:srgbClr val="D8D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85800" y="6355080"/>
            <a:ext cx="96012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200" b="0" i="1">
                <a:solidFill>
                  <a:srgbClr val="808080"/>
                </a:solidFill>
                <a:latin typeface="Calibri"/>
                <a:ea typeface="Microsoft YaHei"/>
                <a:cs typeface="Microsoft YaHei"/>
              </a:rPr>
              <a:t>reviews/03-eng-review.md; reviews/04-qa-report.md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591495" y="635508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200" b="0" i="0">
                <a:solidFill>
                  <a:srgbClr val="808080"/>
                </a:solidFill>
                <a:latin typeface="Calibri"/>
                <a:ea typeface="Microsoft YaHei"/>
                <a:cs typeface="Microsoft YaHei"/>
              </a:rPr>
              <a:t>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20095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600" b="1" i="0">
                <a:solidFill>
                  <a:srgbClr val="1F4E78"/>
                </a:solidFill>
                <a:latin typeface="Calibri"/>
                <a:ea typeface="Microsoft YaHei"/>
                <a:cs typeface="Microsoft YaHei"/>
              </a:rPr>
              <a:t>THE HIGH-RISK SPIKE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786384"/>
            <a:ext cx="10820095" cy="103733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8000"/>
              </a:lnSpc>
            </a:pPr>
            <a:r>
              <a:rPr sz="3200" b="1" i="0">
                <a:solidFill>
                  <a:srgbClr val="1F4E78"/>
                </a:solidFill>
                <a:latin typeface="Calibri"/>
                <a:ea typeface="Microsoft YaHei"/>
                <a:cs typeface="Microsoft YaHei"/>
              </a:rPr>
              <a:t>T1.5: one mandatory spike, gated on real evidence, not more planning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933447"/>
            <a:ext cx="10820095" cy="9525"/>
          </a:xfrm>
          <a:prstGeom prst="rect">
            <a:avLst/>
          </a:prstGeom>
          <a:solidFill>
            <a:srgbClr val="1F4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2079751"/>
            <a:ext cx="10820095" cy="446277"/>
          </a:xfrm>
          <a:prstGeom prst="rect">
            <a:avLst/>
          </a:prstGeom>
          <a:solidFill>
            <a:srgbClr val="1F4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13816" y="2152903"/>
            <a:ext cx="3081589" cy="336549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Step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61" y="2152903"/>
            <a:ext cx="7299593" cy="336549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What happened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13816" y="2599180"/>
            <a:ext cx="3081589" cy="3774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</a:pPr>
            <a:r>
              <a:rPr sz="2200" b="0" i="0">
                <a:solidFill>
                  <a:srgbClr val="000000"/>
                </a:solidFill>
                <a:latin typeface="Calibri"/>
                <a:ea typeface="Microsoft YaHei"/>
                <a:cs typeface="Microsoft YaHei"/>
              </a:rPr>
              <a:t>1. Assumption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61" y="2599180"/>
            <a:ext cx="7299593" cy="3774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</a:pPr>
            <a:r>
              <a:rPr sz="2200" b="0" i="0">
                <a:solidFill>
                  <a:srgbClr val="000000"/>
                </a:solidFill>
                <a:latin typeface="Calibri"/>
                <a:ea typeface="Microsoft YaHei"/>
                <a:cs typeface="Microsoft YaHei"/>
              </a:rPr>
              <a:t>The image-proxy fix should just work once wired up</a:t>
            </a:r>
          </a:p>
        </p:txBody>
      </p:sp>
      <p:sp>
        <p:nvSpPr>
          <p:cNvPr id="10" name="Rectangle 9"/>
          <p:cNvSpPr/>
          <p:nvPr/>
        </p:nvSpPr>
        <p:spPr>
          <a:xfrm>
            <a:off x="685800" y="3013200"/>
            <a:ext cx="10820095" cy="9525"/>
          </a:xfrm>
          <a:prstGeom prst="rect">
            <a:avLst/>
          </a:prstGeom>
          <a:solidFill>
            <a:srgbClr val="D8D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85800" y="3013200"/>
            <a:ext cx="10820095" cy="82804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13816" y="3086352"/>
            <a:ext cx="3081589" cy="71831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</a:pPr>
            <a:r>
              <a:rPr sz="2200" b="0" i="0">
                <a:solidFill>
                  <a:srgbClr val="000000"/>
                </a:solidFill>
                <a:latin typeface="Calibri"/>
                <a:ea typeface="Microsoft YaHei"/>
                <a:cs typeface="Microsoft YaHei"/>
              </a:rPr>
              <a:t>2. Experiment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14861" y="3086352"/>
            <a:ext cx="7299593" cy="71831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</a:pPr>
            <a:r>
              <a:rPr sz="2200" b="0" i="0">
                <a:solidFill>
                  <a:srgbClr val="000000"/>
                </a:solidFill>
                <a:latin typeface="Calibri"/>
                <a:ea typeface="Microsoft YaHei"/>
                <a:cs typeface="Microsoft YaHei"/>
              </a:rPr>
              <a:t>Read the library's real source; wire fetchFn to the proxy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85800" y="3841240"/>
            <a:ext cx="10820095" cy="9525"/>
          </a:xfrm>
          <a:prstGeom prst="rect">
            <a:avLst/>
          </a:prstGeom>
          <a:solidFill>
            <a:srgbClr val="D8D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13816" y="3914392"/>
            <a:ext cx="3081589" cy="3774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</a:pPr>
            <a:r>
              <a:rPr sz="2200" b="0" i="0">
                <a:solidFill>
                  <a:srgbClr val="000000"/>
                </a:solidFill>
                <a:latin typeface="Calibri"/>
                <a:ea typeface="Microsoft YaHei"/>
                <a:cs typeface="Microsoft YaHei"/>
              </a:rPr>
              <a:t>3. First result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14861" y="3914392"/>
            <a:ext cx="7299593" cy="3774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</a:pPr>
            <a:r>
              <a:rPr sz="2200" b="0" i="0">
                <a:solidFill>
                  <a:srgbClr val="000000"/>
                </a:solidFill>
                <a:latin typeface="Calibri"/>
                <a:ea typeface="Microsoft YaHei"/>
                <a:cs typeface="Microsoft YaHei"/>
              </a:rPr>
              <a:t>“Success” — no exception was thrown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85800" y="4328412"/>
            <a:ext cx="10820095" cy="9525"/>
          </a:xfrm>
          <a:prstGeom prst="rect">
            <a:avLst/>
          </a:prstGeom>
          <a:solidFill>
            <a:srgbClr val="D8D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85800" y="4328412"/>
            <a:ext cx="10820095" cy="82804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13816" y="4401564"/>
            <a:ext cx="3081589" cy="71831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</a:pPr>
            <a:r>
              <a:rPr sz="2200" b="0" i="0">
                <a:solidFill>
                  <a:srgbClr val="000000"/>
                </a:solidFill>
                <a:latin typeface="Calibri"/>
                <a:ea typeface="Microsoft YaHei"/>
                <a:cs typeface="Microsoft YaHei"/>
              </a:rPr>
              <a:t>4. Bug found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114861" y="4401564"/>
            <a:ext cx="7299593" cy="71831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</a:pPr>
            <a:r>
              <a:rPr sz="2200" b="0" i="0">
                <a:solidFill>
                  <a:srgbClr val="000000"/>
                </a:solidFill>
                <a:latin typeface="Calibri"/>
                <a:ea typeface="Microsoft YaHei"/>
                <a:cs typeface="Microsoft YaHei"/>
              </a:rPr>
              <a:t>Exported PNG: a broken-image icon where the avatar should be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85800" y="5156452"/>
            <a:ext cx="10820095" cy="9525"/>
          </a:xfrm>
          <a:prstGeom prst="rect">
            <a:avLst/>
          </a:prstGeom>
          <a:solidFill>
            <a:srgbClr val="D8D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13816" y="5229604"/>
            <a:ext cx="3081589" cy="3774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</a:pPr>
            <a:r>
              <a:rPr sz="2200" b="0" i="0">
                <a:solidFill>
                  <a:srgbClr val="000000"/>
                </a:solidFill>
                <a:latin typeface="Calibri"/>
                <a:ea typeface="Microsoft YaHei"/>
                <a:cs typeface="Microsoft YaHei"/>
              </a:rPr>
              <a:t>5. Fix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114861" y="5229604"/>
            <a:ext cx="7299593" cy="3774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</a:pPr>
            <a:r>
              <a:rPr sz="2200" b="0" i="0">
                <a:solidFill>
                  <a:srgbClr val="000000"/>
                </a:solidFill>
                <a:latin typeface="Calibri"/>
                <a:ea typeface="Microsoft YaHei"/>
                <a:cs typeface="Microsoft YaHei"/>
              </a:rPr>
              <a:t>blob: URL → base64 data: URL, proven visually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85800" y="5643624"/>
            <a:ext cx="10820095" cy="9525"/>
          </a:xfrm>
          <a:prstGeom prst="rect">
            <a:avLst/>
          </a:prstGeom>
          <a:solidFill>
            <a:srgbClr val="D8D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85800" y="6355080"/>
            <a:ext cx="96012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200" b="0" i="1">
                <a:solidFill>
                  <a:srgbClr val="808080"/>
                </a:solidFill>
                <a:latin typeface="Calibri"/>
                <a:ea typeface="Microsoft YaHei"/>
                <a:cs typeface="Microsoft YaHei"/>
              </a:rPr>
              <a:t>reviews/04-qa-report.md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591495" y="635508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200" b="0" i="0">
                <a:solidFill>
                  <a:srgbClr val="808080"/>
                </a:solidFill>
                <a:latin typeface="Calibri"/>
                <a:ea typeface="Microsoft YaHei"/>
                <a:cs typeface="Microsoft YaHei"/>
              </a:rPr>
              <a:t>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35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85800" y="2103120"/>
            <a:ext cx="54864" cy="2377440"/>
          </a:xfrm>
          <a:prstGeom prst="rect">
            <a:avLst/>
          </a:prstGeom>
          <a:solidFill>
            <a:srgbClr val="00A6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43000" y="1691640"/>
            <a:ext cx="9601200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600" b="1" i="0">
                <a:solidFill>
                  <a:srgbClr val="7FC4E8"/>
                </a:solidFill>
                <a:latin typeface="Calibri"/>
                <a:ea typeface="Microsoft YaHei"/>
                <a:cs typeface="Microsoft YaHei"/>
              </a:rPr>
              <a:t>SUCCESSFUL EXECUTION ≠ CORRECT OUTPUT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" y="2148840"/>
            <a:ext cx="9692640" cy="1853183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0000"/>
              </a:lnSpc>
            </a:pPr>
            <a:r>
              <a:rPr sz="32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modern-screenshot reported success.
No exception was thrown.
And the image was still wrong.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4663440"/>
            <a:ext cx="9692640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600" b="0" i="0">
                <a:solidFill>
                  <a:srgbClr val="9AA8B4"/>
                </a:solidFill>
                <a:latin typeface="Calibri"/>
                <a:ea typeface="Microsoft YaHei"/>
                <a:cs typeface="Microsoft YaHei"/>
              </a:rPr>
              <a:t>The avatar bug — the strongest evidence in this project that a passing check is not proof of a correct result. reviews/04-qa-report.md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91495" y="635508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200" b="0" i="0">
                <a:solidFill>
                  <a:srgbClr val="9AA8B4"/>
                </a:solidFill>
                <a:latin typeface="Calibri"/>
                <a:ea typeface="Microsoft YaHei"/>
                <a:cs typeface="Microsoft YaHei"/>
              </a:rPr>
              <a:t>9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20095" cy="103733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8000"/>
              </a:lnSpc>
            </a:pPr>
            <a:r>
              <a:rPr sz="3200" b="1" i="0">
                <a:solidFill>
                  <a:srgbClr val="1F4E78"/>
                </a:solidFill>
                <a:latin typeface="Calibri"/>
                <a:ea typeface="Microsoft YaHei"/>
                <a:cs typeface="Microsoft YaHei"/>
              </a:rPr>
              <a:t>Every QA checkpoint ran through a real browser, not a headless approximation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1604263"/>
            <a:ext cx="10820095" cy="9525"/>
          </a:xfrm>
          <a:prstGeom prst="rect">
            <a:avLst/>
          </a:prstGeom>
          <a:solidFill>
            <a:srgbClr val="1F4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04088" y="1876297"/>
            <a:ext cx="82296" cy="82296"/>
          </a:xfrm>
          <a:prstGeom prst="rect">
            <a:avLst/>
          </a:prstGeom>
          <a:solidFill>
            <a:srgbClr val="1F4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78408" y="1750567"/>
            <a:ext cx="10527487" cy="736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2000"/>
              </a:lnSpc>
            </a:pPr>
            <a:r>
              <a:rPr sz="2200" b="1" i="0">
                <a:solidFill>
                  <a:srgbClr val="1F4E78"/>
                </a:solidFill>
                <a:latin typeface="Calibri"/>
                <a:ea typeface="Microsoft YaHei"/>
                <a:cs typeface="Microsoft YaHei"/>
              </a:rPr>
              <a:t>Real browser.  </a:t>
            </a:r>
            <a:r>
              <a:rPr sz="2200" b="0" i="0">
                <a:solidFill>
                  <a:srgbClr val="000000"/>
                </a:solidFill>
                <a:latin typeface="Calibri"/>
                <a:ea typeface="Microsoft YaHei"/>
                <a:cs typeface="Microsoft YaHei"/>
              </a:rPr>
              <a:t>Aside — an AI-native browser — drove every checkpoint from the T1.5 spike through the production smoke test, on Windows 11.</a:t>
            </a:r>
          </a:p>
        </p:txBody>
      </p:sp>
      <p:sp>
        <p:nvSpPr>
          <p:cNvPr id="6" name="Rectangle 5"/>
          <p:cNvSpPr/>
          <p:nvPr/>
        </p:nvSpPr>
        <p:spPr>
          <a:xfrm>
            <a:off x="704088" y="3025139"/>
            <a:ext cx="82296" cy="82296"/>
          </a:xfrm>
          <a:prstGeom prst="rect">
            <a:avLst/>
          </a:prstGeom>
          <a:solidFill>
            <a:srgbClr val="1F4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78408" y="2899409"/>
            <a:ext cx="10527487" cy="736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2000"/>
              </a:lnSpc>
            </a:pPr>
            <a:r>
              <a:rPr sz="2200" b="1" i="0">
                <a:solidFill>
                  <a:srgbClr val="1F4E78"/>
                </a:solidFill>
                <a:latin typeface="Calibri"/>
                <a:ea typeface="Microsoft YaHei"/>
                <a:cs typeface="Microsoft YaHei"/>
              </a:rPr>
              <a:t>Deterministic races.  </a:t>
            </a:r>
            <a:r>
              <a:rPr sz="2200" b="0" i="0">
                <a:solidFill>
                  <a:srgbClr val="000000"/>
                </a:solidFill>
                <a:latin typeface="Calibri"/>
                <a:ea typeface="Microsoft YaHei"/>
                <a:cs typeface="Microsoft YaHei"/>
              </a:rPr>
              <a:t>Network-delay injection forced the stale-request race to reproduce on demand, instead of hoping to catch it by luck.</a:t>
            </a:r>
          </a:p>
        </p:txBody>
      </p:sp>
      <p:sp>
        <p:nvSpPr>
          <p:cNvPr id="8" name="Rectangle 7"/>
          <p:cNvSpPr/>
          <p:nvPr/>
        </p:nvSpPr>
        <p:spPr>
          <a:xfrm>
            <a:off x="704088" y="4173981"/>
            <a:ext cx="82296" cy="82296"/>
          </a:xfrm>
          <a:prstGeom prst="rect">
            <a:avLst/>
          </a:prstGeom>
          <a:solidFill>
            <a:srgbClr val="1F4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78408" y="4048251"/>
            <a:ext cx="10527487" cy="736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2000"/>
              </a:lnSpc>
            </a:pPr>
            <a:r>
              <a:rPr sz="2200" b="1" i="0">
                <a:solidFill>
                  <a:srgbClr val="1F4E78"/>
                </a:solidFill>
                <a:latin typeface="Calibri"/>
                <a:ea typeface="Microsoft YaHei"/>
                <a:cs typeface="Microsoft YaHei"/>
              </a:rPr>
              <a:t>Visual inspection.  </a:t>
            </a:r>
            <a:r>
              <a:rPr sz="2200" b="0" i="0">
                <a:solidFill>
                  <a:srgbClr val="000000"/>
                </a:solidFill>
                <a:latin typeface="Calibri"/>
                <a:ea typeface="Microsoft YaHei"/>
                <a:cs typeface="Microsoft YaHei"/>
              </a:rPr>
              <a:t>Real downloaded PNGs were read and visually inspected — this is what actually caught the avatar bug.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04088" y="5322823"/>
            <a:ext cx="82296" cy="82296"/>
          </a:xfrm>
          <a:prstGeom prst="rect">
            <a:avLst/>
          </a:prstGeom>
          <a:solidFill>
            <a:srgbClr val="1F4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78408" y="5197093"/>
            <a:ext cx="10527487" cy="736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2000"/>
              </a:lnSpc>
            </a:pPr>
            <a:r>
              <a:rPr sz="2200" b="1" i="0">
                <a:solidFill>
                  <a:srgbClr val="1F4E78"/>
                </a:solidFill>
                <a:latin typeface="Calibri"/>
                <a:ea typeface="Microsoft YaHei"/>
                <a:cs typeface="Microsoft YaHei"/>
              </a:rPr>
              <a:t>Production checks.  </a:t>
            </a:r>
            <a:r>
              <a:rPr sz="2200" b="0" i="0">
                <a:solidFill>
                  <a:srgbClr val="000000"/>
                </a:solidFill>
                <a:latin typeface="Calibri"/>
                <a:ea typeface="Microsoft YaHei"/>
                <a:cs typeface="Microsoft YaHei"/>
              </a:rPr>
              <a:t>The same checks ran again against the live deployed URL after shipping, not just localhost.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6355080"/>
            <a:ext cx="96012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200" b="0" i="1">
                <a:solidFill>
                  <a:srgbClr val="808080"/>
                </a:solidFill>
                <a:latin typeface="Calibri"/>
                <a:ea typeface="Microsoft YaHei"/>
                <a:cs typeface="Microsoft YaHei"/>
              </a:rPr>
              <a:t>reviews/04-qa-report.md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91495" y="635508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200" b="0" i="0">
                <a:solidFill>
                  <a:srgbClr val="808080"/>
                </a:solidFill>
                <a:latin typeface="Calibri"/>
                <a:ea typeface="Microsoft YaHei"/>
                <a:cs typeface="Microsoft YaHei"/>
              </a:rPr>
              <a:t>10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20095" cy="103733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8000"/>
              </a:lnSpc>
            </a:pPr>
            <a:r>
              <a:rPr sz="3200" b="1" i="0">
                <a:solidFill>
                  <a:srgbClr val="1F4E78"/>
                </a:solidFill>
                <a:latin typeface="Calibri"/>
                <a:ea typeface="Microsoft YaHei"/>
                <a:cs typeface="Microsoft YaHei"/>
              </a:rPr>
              <a:t>One step in this project has no AI substitute: a human looking at the result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1604263"/>
            <a:ext cx="10820095" cy="9525"/>
          </a:xfrm>
          <a:prstGeom prst="rect">
            <a:avLst/>
          </a:prstGeom>
          <a:solidFill>
            <a:srgbClr val="1F4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750567"/>
            <a:ext cx="10820095" cy="38684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0000"/>
              </a:lnSpc>
            </a:pPr>
            <a:r>
              <a:rPr sz="1900" b="0" i="1">
                <a:solidFill>
                  <a:srgbClr val="595959"/>
                </a:solidFill>
                <a:latin typeface="Calibri"/>
                <a:ea typeface="Microsoft YaHei"/>
                <a:cs typeface="Microsoft YaHei"/>
              </a:rPr>
              <a:t>Reported by the user, not independently verifiable by the AI — that is exactly the point.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2265425"/>
            <a:ext cx="10820095" cy="446277"/>
          </a:xfrm>
          <a:prstGeom prst="rect">
            <a:avLst/>
          </a:prstGeom>
          <a:solidFill>
            <a:srgbClr val="1F4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13816" y="2338577"/>
            <a:ext cx="2898198" cy="336549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Step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931470" y="2338577"/>
            <a:ext cx="7482984" cy="336549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What happened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13816" y="2784854"/>
            <a:ext cx="2898198" cy="4394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</a:pPr>
            <a:r>
              <a:rPr sz="2600" b="0" i="0">
                <a:solidFill>
                  <a:srgbClr val="000000"/>
                </a:solidFill>
                <a:latin typeface="Calibri"/>
                <a:ea typeface="Microsoft YaHei"/>
                <a:cs typeface="Microsoft YaHei"/>
              </a:rPr>
              <a:t>1. Localhost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931470" y="2784854"/>
            <a:ext cx="7482984" cy="4394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</a:pPr>
            <a:r>
              <a:rPr sz="2600" b="0" i="0">
                <a:solidFill>
                  <a:srgbClr val="000000"/>
                </a:solidFill>
                <a:latin typeface="Calibri"/>
                <a:ea typeface="Microsoft YaHei"/>
                <a:cs typeface="Microsoft YaHei"/>
              </a:rPr>
              <a:t>Human launched the app themselves</a:t>
            </a:r>
          </a:p>
        </p:txBody>
      </p:sp>
      <p:sp>
        <p:nvSpPr>
          <p:cNvPr id="10" name="Rectangle 9"/>
          <p:cNvSpPr/>
          <p:nvPr/>
        </p:nvSpPr>
        <p:spPr>
          <a:xfrm>
            <a:off x="685800" y="3260850"/>
            <a:ext cx="10820095" cy="9525"/>
          </a:xfrm>
          <a:prstGeom prst="rect">
            <a:avLst/>
          </a:prstGeom>
          <a:solidFill>
            <a:srgbClr val="D8D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85800" y="3260850"/>
            <a:ext cx="10820095" cy="549148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13816" y="3334002"/>
            <a:ext cx="2898198" cy="4394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</a:pPr>
            <a:r>
              <a:rPr sz="2600" b="0" i="0">
                <a:solidFill>
                  <a:srgbClr val="000000"/>
                </a:solidFill>
                <a:latin typeface="Calibri"/>
                <a:ea typeface="Microsoft YaHei"/>
                <a:cs typeface="Microsoft YaHei"/>
              </a:rPr>
              <a:t>2. Export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931470" y="3334002"/>
            <a:ext cx="7482984" cy="4394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</a:pPr>
            <a:r>
              <a:rPr sz="2600" b="0" i="0">
                <a:solidFill>
                  <a:srgbClr val="000000"/>
                </a:solidFill>
                <a:latin typeface="Calibri"/>
                <a:ea typeface="Microsoft YaHei"/>
                <a:cs typeface="Microsoft YaHei"/>
              </a:rPr>
              <a:t>Downloaded a real PNG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85800" y="3809998"/>
            <a:ext cx="10820095" cy="9525"/>
          </a:xfrm>
          <a:prstGeom prst="rect">
            <a:avLst/>
          </a:prstGeom>
          <a:solidFill>
            <a:srgbClr val="D8D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13816" y="3883150"/>
            <a:ext cx="2898198" cy="4394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</a:pPr>
            <a:r>
              <a:rPr sz="2600" b="0" i="0">
                <a:solidFill>
                  <a:srgbClr val="000000"/>
                </a:solidFill>
                <a:latin typeface="Calibri"/>
                <a:ea typeface="Microsoft YaHei"/>
                <a:cs typeface="Microsoft YaHei"/>
              </a:rPr>
              <a:t>3. Visual check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931470" y="3883150"/>
            <a:ext cx="7482984" cy="4394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</a:pPr>
            <a:r>
              <a:rPr sz="2600" b="0" i="0">
                <a:solidFill>
                  <a:srgbClr val="000000"/>
                </a:solidFill>
                <a:latin typeface="Calibri"/>
                <a:ea typeface="Microsoft YaHei"/>
                <a:cs typeface="Microsoft YaHei"/>
              </a:rPr>
              <a:t>Inspected the file directly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85800" y="4359146"/>
            <a:ext cx="10820095" cy="9525"/>
          </a:xfrm>
          <a:prstGeom prst="rect">
            <a:avLst/>
          </a:prstGeom>
          <a:solidFill>
            <a:srgbClr val="D8D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85800" y="4359146"/>
            <a:ext cx="10820095" cy="951992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13816" y="4432298"/>
            <a:ext cx="2898198" cy="84226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</a:pPr>
            <a:r>
              <a:rPr sz="2600" b="0" i="0">
                <a:solidFill>
                  <a:srgbClr val="000000"/>
                </a:solidFill>
                <a:latin typeface="Calibri"/>
                <a:ea typeface="Microsoft YaHei"/>
                <a:cs typeface="Microsoft YaHei"/>
              </a:rPr>
              <a:t>4. Production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931470" y="4432298"/>
            <a:ext cx="7482984" cy="84226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</a:pPr>
            <a:r>
              <a:rPr sz="2600" b="0" i="0">
                <a:solidFill>
                  <a:srgbClr val="000000"/>
                </a:solidFill>
                <a:latin typeface="Calibri"/>
                <a:ea typeface="Microsoft YaHei"/>
                <a:cs typeface="Microsoft YaHei"/>
              </a:rPr>
              <a:t>Repeated the same check against the deployed Vercel URL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85800" y="5311138"/>
            <a:ext cx="10820095" cy="9525"/>
          </a:xfrm>
          <a:prstGeom prst="rect">
            <a:avLst/>
          </a:prstGeom>
          <a:solidFill>
            <a:srgbClr val="D8D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85800" y="6355080"/>
            <a:ext cx="96012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200" b="0" i="1">
                <a:solidFill>
                  <a:srgbClr val="808080"/>
                </a:solidFill>
                <a:latin typeface="Calibri"/>
                <a:ea typeface="Microsoft YaHei"/>
                <a:cs typeface="Microsoft YaHei"/>
              </a:rPr>
              <a:t>reviews/04-qa-report.md; reviews/05-ship.md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591495" y="635508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200" b="0" i="0">
                <a:solidFill>
                  <a:srgbClr val="808080"/>
                </a:solidFill>
                <a:latin typeface="Calibri"/>
                <a:ea typeface="Microsoft YaHei"/>
                <a:cs typeface="Microsoft YaHei"/>
              </a:rPr>
              <a:t>11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20095" cy="103733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8000"/>
              </a:lnSpc>
            </a:pPr>
            <a:r>
              <a:rPr sz="3200" b="1" i="0">
                <a:solidFill>
                  <a:srgbClr val="1F4E78"/>
                </a:solidFill>
                <a:latin typeface="Calibri"/>
                <a:ea typeface="Microsoft YaHei"/>
                <a:cs typeface="Microsoft YaHei"/>
              </a:rPr>
              <a:t>Ten levels from idea to proof; the avatar bug hid at level 3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1604263"/>
            <a:ext cx="10820095" cy="9525"/>
          </a:xfrm>
          <a:prstGeom prst="rect">
            <a:avLst/>
          </a:prstGeom>
          <a:solidFill>
            <a:srgbClr val="1F4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85800" y="1750567"/>
            <a:ext cx="10820095" cy="446277"/>
          </a:xfrm>
          <a:prstGeom prst="rect">
            <a:avLst/>
          </a:prstGeom>
          <a:solidFill>
            <a:srgbClr val="1F4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13816" y="1823719"/>
            <a:ext cx="3448372" cy="336549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Level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481644" y="1823719"/>
            <a:ext cx="6932810" cy="336549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What it actually removes uncertainty about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13816" y="2269996"/>
            <a:ext cx="3448372" cy="3154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0" i="0">
                <a:solidFill>
                  <a:srgbClr val="000000"/>
                </a:solidFill>
                <a:latin typeface="Calibri"/>
                <a:ea typeface="Microsoft YaHei"/>
                <a:cs typeface="Microsoft YaHei"/>
              </a:rPr>
              <a:t>1. Idea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481644" y="2269996"/>
            <a:ext cx="6932810" cy="3154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0" i="0">
                <a:solidFill>
                  <a:srgbClr val="000000"/>
                </a:solidFill>
                <a:latin typeface="Calibri"/>
                <a:ea typeface="Microsoft YaHei"/>
                <a:cs typeface="Microsoft YaHei"/>
              </a:rPr>
              <a:t>Nothing about feasibility yet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2622040"/>
            <a:ext cx="10820095" cy="9525"/>
          </a:xfrm>
          <a:prstGeom prst="rect">
            <a:avLst/>
          </a:prstGeom>
          <a:solidFill>
            <a:srgbClr val="D8D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85800" y="2622040"/>
            <a:ext cx="10820095" cy="425196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13816" y="2695192"/>
            <a:ext cx="3448372" cy="3154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0" i="0">
                <a:solidFill>
                  <a:srgbClr val="000000"/>
                </a:solidFill>
                <a:latin typeface="Calibri"/>
                <a:ea typeface="Microsoft YaHei"/>
                <a:cs typeface="Microsoft YaHei"/>
              </a:rPr>
              <a:t>2. Code compiles / builds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81644" y="2695192"/>
            <a:ext cx="6932810" cy="3154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0" i="0">
                <a:solidFill>
                  <a:srgbClr val="000000"/>
                </a:solidFill>
                <a:latin typeface="Calibri"/>
                <a:ea typeface="Microsoft YaHei"/>
                <a:cs typeface="Microsoft YaHei"/>
              </a:rPr>
              <a:t>Type correctness only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85800" y="3047236"/>
            <a:ext cx="10820095" cy="9525"/>
          </a:xfrm>
          <a:prstGeom prst="rect">
            <a:avLst/>
          </a:prstGeom>
          <a:solidFill>
            <a:srgbClr val="D8D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3816" y="3120388"/>
            <a:ext cx="3448372" cy="5943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0" i="0">
                <a:solidFill>
                  <a:srgbClr val="000000"/>
                </a:solidFill>
                <a:latin typeface="Calibri"/>
                <a:ea typeface="Microsoft YaHei"/>
                <a:cs typeface="Microsoft YaHei"/>
              </a:rPr>
              <a:t>3. Local browser “succeeds”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81644" y="3120388"/>
            <a:ext cx="6932810" cy="5943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0" i="0">
                <a:solidFill>
                  <a:srgbClr val="000000"/>
                </a:solidFill>
                <a:latin typeface="Calibri"/>
                <a:ea typeface="Microsoft YaHei"/>
                <a:cs typeface="Microsoft YaHei"/>
              </a:rPr>
              <a:t>Looks like proof — usually isn't. The trap the avatar bug hid in.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85800" y="3751324"/>
            <a:ext cx="10820095" cy="9525"/>
          </a:xfrm>
          <a:prstGeom prst="rect">
            <a:avLst/>
          </a:prstGeom>
          <a:solidFill>
            <a:srgbClr val="D8D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85800" y="3751324"/>
            <a:ext cx="10820095" cy="425196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13816" y="3824476"/>
            <a:ext cx="3448372" cy="3154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0" i="0">
                <a:solidFill>
                  <a:srgbClr val="000000"/>
                </a:solidFill>
                <a:latin typeface="Calibri"/>
                <a:ea typeface="Microsoft YaHei"/>
                <a:cs typeface="Microsoft YaHei"/>
              </a:rPr>
              <a:t>4. Deterministic browser test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81644" y="3824476"/>
            <a:ext cx="6932810" cy="3154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0" i="0">
                <a:solidFill>
                  <a:srgbClr val="000000"/>
                </a:solidFill>
                <a:latin typeface="Calibri"/>
                <a:ea typeface="Microsoft YaHei"/>
                <a:cs typeface="Microsoft YaHei"/>
              </a:rPr>
              <a:t>A specific, hard-to-reproduce failure, made repeatable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85800" y="4176520"/>
            <a:ext cx="10820095" cy="9525"/>
          </a:xfrm>
          <a:prstGeom prst="rect">
            <a:avLst/>
          </a:prstGeom>
          <a:solidFill>
            <a:srgbClr val="D8D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13816" y="4249672"/>
            <a:ext cx="3448372" cy="3154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0" i="0">
                <a:solidFill>
                  <a:srgbClr val="000000"/>
                </a:solidFill>
                <a:latin typeface="Calibri"/>
                <a:ea typeface="Microsoft YaHei"/>
                <a:cs typeface="Microsoft YaHei"/>
              </a:rPr>
              <a:t>5. Exported artifact inspected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81644" y="4249672"/>
            <a:ext cx="6932810" cy="3154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0" i="0">
                <a:solidFill>
                  <a:srgbClr val="000000"/>
                </a:solidFill>
                <a:latin typeface="Calibri"/>
                <a:ea typeface="Microsoft YaHei"/>
                <a:cs typeface="Microsoft YaHei"/>
              </a:rPr>
              <a:t>“No error” ≠ “correct output” — this caught the avatar bug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85800" y="4601716"/>
            <a:ext cx="10820095" cy="9525"/>
          </a:xfrm>
          <a:prstGeom prst="rect">
            <a:avLst/>
          </a:prstGeom>
          <a:solidFill>
            <a:srgbClr val="D8D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85800" y="4601716"/>
            <a:ext cx="10820095" cy="425196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13816" y="4674868"/>
            <a:ext cx="3448372" cy="3154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0" i="0">
                <a:solidFill>
                  <a:srgbClr val="000000"/>
                </a:solidFill>
                <a:latin typeface="Calibri"/>
                <a:ea typeface="Microsoft YaHei"/>
                <a:cs typeface="Microsoft YaHei"/>
              </a:rPr>
              <a:t>6. Human manual test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481644" y="4674868"/>
            <a:ext cx="6932810" cy="3154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0" i="0">
                <a:solidFill>
                  <a:srgbClr val="000000"/>
                </a:solidFill>
                <a:latin typeface="Calibri"/>
                <a:ea typeface="Microsoft YaHei"/>
                <a:cs typeface="Microsoft YaHei"/>
              </a:rPr>
              <a:t>Blind spots automated checks share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85800" y="5026912"/>
            <a:ext cx="10820095" cy="9525"/>
          </a:xfrm>
          <a:prstGeom prst="rect">
            <a:avLst/>
          </a:prstGeom>
          <a:solidFill>
            <a:srgbClr val="D8D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13816" y="5100064"/>
            <a:ext cx="3448372" cy="5943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0" i="0">
                <a:solidFill>
                  <a:srgbClr val="000000"/>
                </a:solidFill>
                <a:latin typeface="Calibri"/>
                <a:ea typeface="Microsoft YaHei"/>
                <a:cs typeface="Microsoft YaHei"/>
              </a:rPr>
              <a:t>7. Production + human production test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481644" y="5100064"/>
            <a:ext cx="6932810" cy="5943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0" i="0">
                <a:solidFill>
                  <a:srgbClr val="000000"/>
                </a:solidFill>
                <a:latin typeface="Calibri"/>
                <a:ea typeface="Microsoft YaHei"/>
                <a:cs typeface="Microsoft YaHei"/>
              </a:rPr>
              <a:t>Works with real infrastructure, for real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85800" y="5731000"/>
            <a:ext cx="10820095" cy="9525"/>
          </a:xfrm>
          <a:prstGeom prst="rect">
            <a:avLst/>
          </a:prstGeom>
          <a:solidFill>
            <a:srgbClr val="D8D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85800" y="6355080"/>
            <a:ext cx="96012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200" b="0" i="1">
                <a:solidFill>
                  <a:srgbClr val="808080"/>
                </a:solidFill>
                <a:latin typeface="Calibri"/>
                <a:ea typeface="Microsoft YaHei"/>
                <a:cs typeface="Microsoft YaHei"/>
              </a:rPr>
              <a:t>reviews/04-qa-report.md (full 10-level version)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591495" y="635508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200" b="0" i="0">
                <a:solidFill>
                  <a:srgbClr val="808080"/>
                </a:solidFill>
                <a:latin typeface="Calibri"/>
                <a:ea typeface="Microsoft YaHei"/>
                <a:cs typeface="Microsoft YaHei"/>
              </a:rPr>
              <a:t>12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20095" cy="103733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8000"/>
              </a:lnSpc>
            </a:pPr>
            <a:r>
              <a:rPr sz="3200" b="1" i="0">
                <a:solidFill>
                  <a:srgbClr val="1F4E78"/>
                </a:solidFill>
                <a:latin typeface="Calibri"/>
                <a:ea typeface="Microsoft YaHei"/>
                <a:cs typeface="Microsoft YaHei"/>
              </a:rPr>
              <a:t>Ship Mode: stop debugging, document what's known, minimal QC, ship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1604263"/>
            <a:ext cx="10820095" cy="9525"/>
          </a:xfrm>
          <a:prstGeom prst="rect">
            <a:avLst/>
          </a:prstGeom>
          <a:solidFill>
            <a:srgbClr val="1F4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85800" y="1750567"/>
            <a:ext cx="10820095" cy="446277"/>
          </a:xfrm>
          <a:prstGeom prst="rect">
            <a:avLst/>
          </a:prstGeom>
          <a:solidFill>
            <a:srgbClr val="1F4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13816" y="1823719"/>
            <a:ext cx="2898198" cy="336549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Step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931470" y="1823719"/>
            <a:ext cx="7482984" cy="336549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What it means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13816" y="2269996"/>
            <a:ext cx="2898198" cy="84226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</a:pPr>
            <a:r>
              <a:rPr sz="2600" b="0" i="0">
                <a:solidFill>
                  <a:srgbClr val="000000"/>
                </a:solidFill>
                <a:latin typeface="Calibri"/>
                <a:ea typeface="Microsoft YaHei"/>
                <a:cs typeface="Microsoft YaHei"/>
              </a:rPr>
              <a:t>1. Stop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931470" y="2269996"/>
            <a:ext cx="7482984" cy="84226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</a:pPr>
            <a:r>
              <a:rPr sz="2600" b="0" i="0">
                <a:solidFill>
                  <a:srgbClr val="000000"/>
                </a:solidFill>
                <a:latin typeface="Calibri"/>
                <a:ea typeface="Microsoft YaHei"/>
                <a:cs typeface="Microsoft YaHei"/>
              </a:rPr>
              <a:t>End open-ended debugging on a schedule, not whenever it happens to resolve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3148836"/>
            <a:ext cx="10820095" cy="9525"/>
          </a:xfrm>
          <a:prstGeom prst="rect">
            <a:avLst/>
          </a:prstGeom>
          <a:solidFill>
            <a:srgbClr val="D8D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85800" y="3148836"/>
            <a:ext cx="10820095" cy="951992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13816" y="3221988"/>
            <a:ext cx="2898198" cy="84226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</a:pPr>
            <a:r>
              <a:rPr sz="2600" b="0" i="0">
                <a:solidFill>
                  <a:srgbClr val="000000"/>
                </a:solidFill>
                <a:latin typeface="Calibri"/>
                <a:ea typeface="Microsoft YaHei"/>
                <a:cs typeface="Microsoft YaHei"/>
              </a:rPr>
              <a:t>2. Document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931470" y="3221988"/>
            <a:ext cx="7482984" cy="84226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</a:pPr>
            <a:r>
              <a:rPr sz="2600" b="0" i="0">
                <a:solidFill>
                  <a:srgbClr val="000000"/>
                </a:solidFill>
                <a:latin typeface="Calibri"/>
                <a:ea typeface="Microsoft YaHei"/>
                <a:cs typeface="Microsoft YaHei"/>
              </a:rPr>
              <a:t>Record what's verified and what isn't — not silence, not a vague note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85800" y="4100828"/>
            <a:ext cx="10820095" cy="9525"/>
          </a:xfrm>
          <a:prstGeom prst="rect">
            <a:avLst/>
          </a:prstGeom>
          <a:solidFill>
            <a:srgbClr val="D8D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3816" y="4173980"/>
            <a:ext cx="2898198" cy="4394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</a:pPr>
            <a:r>
              <a:rPr sz="2600" b="0" i="0">
                <a:solidFill>
                  <a:srgbClr val="000000"/>
                </a:solidFill>
                <a:latin typeface="Calibri"/>
                <a:ea typeface="Microsoft YaHei"/>
                <a:cs typeface="Microsoft YaHei"/>
              </a:rPr>
              <a:t>3. Minimal QC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931470" y="4173980"/>
            <a:ext cx="7482984" cy="4394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</a:pPr>
            <a:r>
              <a:rPr sz="2600" b="0" i="0">
                <a:solidFill>
                  <a:srgbClr val="000000"/>
                </a:solidFill>
                <a:latin typeface="Calibri"/>
                <a:ea typeface="Microsoft YaHei"/>
                <a:cs typeface="Microsoft YaHei"/>
              </a:rPr>
              <a:t>One rapid Aside smoke test, not a full re-audit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85800" y="4649976"/>
            <a:ext cx="10820095" cy="9525"/>
          </a:xfrm>
          <a:prstGeom prst="rect">
            <a:avLst/>
          </a:prstGeom>
          <a:solidFill>
            <a:srgbClr val="D8D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85800" y="4649976"/>
            <a:ext cx="10820095" cy="951992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13816" y="4723128"/>
            <a:ext cx="2898198" cy="84226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</a:pPr>
            <a:r>
              <a:rPr sz="2600" b="0" i="0">
                <a:solidFill>
                  <a:srgbClr val="000000"/>
                </a:solidFill>
                <a:latin typeface="Calibri"/>
                <a:ea typeface="Microsoft YaHei"/>
                <a:cs typeface="Microsoft YaHei"/>
              </a:rPr>
              <a:t>4. Ship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931470" y="4723128"/>
            <a:ext cx="7482984" cy="84226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</a:pPr>
            <a:r>
              <a:rPr sz="2600" b="0" i="0">
                <a:solidFill>
                  <a:srgbClr val="000000"/>
                </a:solidFill>
                <a:latin typeface="Calibri"/>
                <a:ea typeface="Microsoft YaHei"/>
                <a:cs typeface="Microsoft YaHei"/>
              </a:rPr>
              <a:t>Deploy once the core flow passes build + smoke test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85800" y="5601968"/>
            <a:ext cx="10820095" cy="9525"/>
          </a:xfrm>
          <a:prstGeom prst="rect">
            <a:avLst/>
          </a:prstGeom>
          <a:solidFill>
            <a:srgbClr val="D8D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85800" y="6355080"/>
            <a:ext cx="96012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200" b="0" i="1">
                <a:solidFill>
                  <a:srgbClr val="808080"/>
                </a:solidFill>
                <a:latin typeface="Calibri"/>
                <a:ea typeface="Microsoft YaHei"/>
                <a:cs typeface="Microsoft YaHei"/>
              </a:rPr>
              <a:t>reviews/05-ship.md; docs/external_ai_mentor.md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591495" y="635508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200" b="0" i="0">
                <a:solidFill>
                  <a:srgbClr val="808080"/>
                </a:solidFill>
                <a:latin typeface="Calibri"/>
                <a:ea typeface="Microsoft YaHei"/>
                <a:cs typeface="Microsoft YaHei"/>
              </a:rPr>
              <a:t>13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20095" cy="103733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8000"/>
              </a:lnSpc>
            </a:pPr>
            <a:r>
              <a:rPr sz="3200" b="1" i="0">
                <a:solidFill>
                  <a:srgbClr val="1F4E78"/>
                </a:solidFill>
                <a:latin typeface="Calibri"/>
                <a:ea typeface="Microsoft YaHei"/>
                <a:cs typeface="Microsoft YaHei"/>
              </a:rPr>
              <a:t>Both core flows verified working in production, not just in development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1604263"/>
            <a:ext cx="10820095" cy="9525"/>
          </a:xfrm>
          <a:prstGeom prst="rect">
            <a:avLst/>
          </a:prstGeom>
          <a:solidFill>
            <a:srgbClr val="1F4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04088" y="1876297"/>
            <a:ext cx="82296" cy="82296"/>
          </a:xfrm>
          <a:prstGeom prst="rect">
            <a:avLst/>
          </a:prstGeom>
          <a:solidFill>
            <a:srgbClr val="1F4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78408" y="1750567"/>
            <a:ext cx="10527487" cy="736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2000"/>
              </a:lnSpc>
            </a:pPr>
            <a:r>
              <a:rPr sz="2200" b="1" i="0">
                <a:solidFill>
                  <a:srgbClr val="1F4E78"/>
                </a:solidFill>
                <a:latin typeface="Calibri"/>
                <a:ea typeface="Microsoft YaHei"/>
                <a:cs typeface="Microsoft YaHei"/>
              </a:rPr>
              <a:t>Live.  </a:t>
            </a:r>
            <a:r>
              <a:rPr sz="2200" b="0" i="0">
                <a:solidFill>
                  <a:srgbClr val="000000"/>
                </a:solidFill>
                <a:latin typeface="Calibri"/>
                <a:ea typeface="Microsoft YaHei"/>
                <a:cs typeface="Microsoft YaHei"/>
              </a:rPr>
              <a:t>Deployed to Vercel — the first deployment for a new project becomes production directly.</a:t>
            </a:r>
          </a:p>
        </p:txBody>
      </p:sp>
      <p:sp>
        <p:nvSpPr>
          <p:cNvPr id="6" name="Rectangle 5"/>
          <p:cNvSpPr/>
          <p:nvPr/>
        </p:nvSpPr>
        <p:spPr>
          <a:xfrm>
            <a:off x="704088" y="3025139"/>
            <a:ext cx="82296" cy="82296"/>
          </a:xfrm>
          <a:prstGeom prst="rect">
            <a:avLst/>
          </a:prstGeom>
          <a:solidFill>
            <a:srgbClr val="1F4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78408" y="2899409"/>
            <a:ext cx="10527487" cy="736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2000"/>
              </a:lnSpc>
            </a:pPr>
            <a:r>
              <a:rPr sz="2200" b="1" i="0">
                <a:solidFill>
                  <a:srgbClr val="1F4E78"/>
                </a:solidFill>
                <a:latin typeface="Calibri"/>
                <a:ea typeface="Microsoft YaHei"/>
                <a:cs typeface="Microsoft YaHei"/>
              </a:rPr>
              <a:t>Single tweet.  </a:t>
            </a:r>
            <a:r>
              <a:rPr sz="2200" b="0" i="0">
                <a:solidFill>
                  <a:srgbClr val="000000"/>
                </a:solidFill>
                <a:latin typeface="Calibri"/>
                <a:ea typeface="Microsoft YaHei"/>
                <a:cs typeface="Microsoft YaHei"/>
              </a:rPr>
              <a:t>Paste URL → customize → export PNG / clipboard / share link — verified in production.</a:t>
            </a:r>
          </a:p>
        </p:txBody>
      </p:sp>
      <p:sp>
        <p:nvSpPr>
          <p:cNvPr id="8" name="Rectangle 7"/>
          <p:cNvSpPr/>
          <p:nvPr/>
        </p:nvSpPr>
        <p:spPr>
          <a:xfrm>
            <a:off x="704088" y="4173981"/>
            <a:ext cx="82296" cy="82296"/>
          </a:xfrm>
          <a:prstGeom prst="rect">
            <a:avLst/>
          </a:prstGeom>
          <a:solidFill>
            <a:srgbClr val="1F4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78408" y="4048251"/>
            <a:ext cx="10527487" cy="736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2000"/>
              </a:lnSpc>
            </a:pPr>
            <a:r>
              <a:rPr sz="2200" b="1" i="0">
                <a:solidFill>
                  <a:srgbClr val="1F4E78"/>
                </a:solidFill>
                <a:latin typeface="Calibri"/>
                <a:ea typeface="Microsoft YaHei"/>
                <a:cs typeface="Microsoft YaHei"/>
              </a:rPr>
              <a:t>Thread mode.  </a:t>
            </a:r>
            <a:r>
              <a:rPr sz="2200" b="0" i="0">
                <a:solidFill>
                  <a:srgbClr val="000000"/>
                </a:solidFill>
                <a:latin typeface="Calibri"/>
                <a:ea typeface="Microsoft YaHei"/>
                <a:cs typeface="Microsoft YaHei"/>
              </a:rPr>
              <a:t>Manual multi-tweet builder → combined export — verified in production.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04088" y="5322823"/>
            <a:ext cx="82296" cy="82296"/>
          </a:xfrm>
          <a:prstGeom prst="rect">
            <a:avLst/>
          </a:prstGeom>
          <a:solidFill>
            <a:srgbClr val="1F4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78408" y="5197093"/>
            <a:ext cx="10527487" cy="736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2000"/>
              </a:lnSpc>
            </a:pPr>
            <a:r>
              <a:rPr sz="2200" b="1" i="0">
                <a:solidFill>
                  <a:srgbClr val="1F4E78"/>
                </a:solidFill>
                <a:latin typeface="Calibri"/>
                <a:ea typeface="Microsoft YaHei"/>
                <a:cs typeface="Microsoft YaHei"/>
              </a:rPr>
              <a:t>Verified, not assumed.  </a:t>
            </a:r>
            <a:r>
              <a:rPr sz="2200" b="0" i="0">
                <a:solidFill>
                  <a:srgbClr val="000000"/>
                </a:solidFill>
                <a:latin typeface="Calibri"/>
                <a:ea typeface="Microsoft YaHei"/>
                <a:cs typeface="Microsoft YaHei"/>
              </a:rPr>
              <a:t>Confirmed via real-browser automation, and reported by the user as manually tested.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6355080"/>
            <a:ext cx="96012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200" b="0" i="1">
                <a:solidFill>
                  <a:srgbClr val="808080"/>
                </a:solidFill>
                <a:latin typeface="Calibri"/>
                <a:ea typeface="Microsoft YaHei"/>
                <a:cs typeface="Microsoft YaHei"/>
              </a:rPr>
              <a:t>reviews/05-ship.md; README.md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91495" y="635508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200" b="0" i="0">
                <a:solidFill>
                  <a:srgbClr val="808080"/>
                </a:solidFill>
                <a:latin typeface="Calibri"/>
                <a:ea typeface="Microsoft YaHei"/>
                <a:cs typeface="Microsoft YaHei"/>
              </a:rPr>
              <a:t>14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20095" cy="103733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8000"/>
              </a:lnSpc>
            </a:pPr>
            <a:r>
              <a:rPr sz="3200" b="1" i="0">
                <a:solidFill>
                  <a:srgbClr val="1F4E78"/>
                </a:solidFill>
                <a:latin typeface="Calibri"/>
                <a:ea typeface="Microsoft YaHei"/>
                <a:cs typeface="Microsoft YaHei"/>
              </a:rPr>
              <a:t>Four known gaps, stated in release notes — not hidden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1604263"/>
            <a:ext cx="10820095" cy="9525"/>
          </a:xfrm>
          <a:prstGeom prst="rect">
            <a:avLst/>
          </a:prstGeom>
          <a:solidFill>
            <a:srgbClr val="1F4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85800" y="1750567"/>
            <a:ext cx="10820095" cy="446277"/>
          </a:xfrm>
          <a:prstGeom prst="rect">
            <a:avLst/>
          </a:prstGeom>
          <a:solidFill>
            <a:srgbClr val="1F4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13816" y="1823719"/>
            <a:ext cx="5465678" cy="336549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Item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98950" y="1823719"/>
            <a:ext cx="4915504" cy="336549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Status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13816" y="2269996"/>
            <a:ext cx="5465678" cy="78028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</a:pPr>
            <a:r>
              <a:rPr sz="2400" b="0" i="0">
                <a:solidFill>
                  <a:srgbClr val="000000"/>
                </a:solidFill>
                <a:latin typeface="Calibri"/>
                <a:ea typeface="Microsoft YaHei"/>
                <a:cs typeface="Microsoft YaHei"/>
              </a:rPr>
              <a:t>Rate limiting on both public API routes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98950" y="2269996"/>
            <a:ext cx="4915504" cy="78028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</a:pPr>
            <a:r>
              <a:rPr sz="2400" b="0" i="0">
                <a:solidFill>
                  <a:srgbClr val="000000"/>
                </a:solidFill>
                <a:latin typeface="Calibri"/>
                <a:ea typeface="Microsoft YaHei"/>
                <a:cs typeface="Microsoft YaHei"/>
              </a:rPr>
              <a:t>Planned, reviewed twice, never implemented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3086860"/>
            <a:ext cx="10820095" cy="9525"/>
          </a:xfrm>
          <a:prstGeom prst="rect">
            <a:avLst/>
          </a:prstGeom>
          <a:solidFill>
            <a:srgbClr val="D8D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85800" y="3086860"/>
            <a:ext cx="10820095" cy="890016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13816" y="3160012"/>
            <a:ext cx="5465678" cy="78028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</a:pPr>
            <a:r>
              <a:rPr sz="2400" b="0" i="0">
                <a:solidFill>
                  <a:srgbClr val="000000"/>
                </a:solidFill>
                <a:latin typeface="Calibri"/>
                <a:ea typeface="Microsoft YaHei"/>
                <a:cs typeface="Microsoft YaHei"/>
              </a:rPr>
              <a:t>Safari / iOS clipboard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8950" y="3160012"/>
            <a:ext cx="4915504" cy="78028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</a:pPr>
            <a:r>
              <a:rPr sz="2400" b="0" i="0">
                <a:solidFill>
                  <a:srgbClr val="000000"/>
                </a:solidFill>
                <a:latin typeface="Calibri"/>
                <a:ea typeface="Microsoft YaHei"/>
                <a:cs typeface="Microsoft YaHei"/>
              </a:rPr>
              <a:t>Implemented, not empirically verified on real Safari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85800" y="3976876"/>
            <a:ext cx="10820095" cy="9525"/>
          </a:xfrm>
          <a:prstGeom prst="rect">
            <a:avLst/>
          </a:prstGeom>
          <a:solidFill>
            <a:srgbClr val="D8D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3816" y="4050028"/>
            <a:ext cx="5465678" cy="78028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</a:pPr>
            <a:r>
              <a:rPr sz="2400" b="0" i="0">
                <a:solidFill>
                  <a:srgbClr val="000000"/>
                </a:solidFill>
                <a:latin typeface="Calibri"/>
                <a:ea typeface="Microsoft YaHei"/>
                <a:cs typeface="Microsoft YaHei"/>
              </a:rPr>
              <a:t>Video / emoji / multi-image export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8950" y="4050028"/>
            <a:ext cx="4915504" cy="78028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</a:pPr>
            <a:r>
              <a:rPr sz="2400" b="0" i="0">
                <a:solidFill>
                  <a:srgbClr val="000000"/>
                </a:solidFill>
                <a:latin typeface="Calibri"/>
                <a:ea typeface="Microsoft YaHei"/>
                <a:cs typeface="Microsoft YaHei"/>
              </a:rPr>
              <a:t>Implemented, not empirically verified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85800" y="4866892"/>
            <a:ext cx="10820095" cy="9525"/>
          </a:xfrm>
          <a:prstGeom prst="rect">
            <a:avLst/>
          </a:prstGeom>
          <a:solidFill>
            <a:srgbClr val="D8D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85800" y="4866892"/>
            <a:ext cx="10820095" cy="890016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13816" y="4940044"/>
            <a:ext cx="5465678" cy="78028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</a:pPr>
            <a:r>
              <a:rPr sz="2400" b="0" i="0">
                <a:solidFill>
                  <a:srgbClr val="000000"/>
                </a:solidFill>
                <a:latin typeface="Calibri"/>
                <a:ea typeface="Microsoft YaHei"/>
                <a:cs typeface="Microsoft YaHei"/>
              </a:rPr>
              <a:t>Thread share-link style restoration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98950" y="4940044"/>
            <a:ext cx="4915504" cy="78028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</a:pPr>
            <a:r>
              <a:rPr sz="2400" b="0" i="0">
                <a:solidFill>
                  <a:srgbClr val="000000"/>
                </a:solidFill>
                <a:latin typeface="Calibri"/>
                <a:ea typeface="Microsoft YaHei"/>
                <a:cs typeface="Microsoft YaHei"/>
              </a:rPr>
              <a:t>Investigated one bounded pass; root cause not found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85800" y="5756908"/>
            <a:ext cx="10820095" cy="9525"/>
          </a:xfrm>
          <a:prstGeom prst="rect">
            <a:avLst/>
          </a:prstGeom>
          <a:solidFill>
            <a:srgbClr val="D8D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85800" y="6355080"/>
            <a:ext cx="96012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200" b="0" i="1">
                <a:solidFill>
                  <a:srgbClr val="808080"/>
                </a:solidFill>
                <a:latin typeface="Calibri"/>
                <a:ea typeface="Microsoft YaHei"/>
                <a:cs typeface="Microsoft YaHei"/>
              </a:rPr>
              <a:t>TODOS.md; reviews/05-ship.md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591495" y="635508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200" b="0" i="0">
                <a:solidFill>
                  <a:srgbClr val="808080"/>
                </a:solidFill>
                <a:latin typeface="Calibri"/>
                <a:ea typeface="Microsoft YaHei"/>
                <a:cs typeface="Microsoft YaHei"/>
              </a:rPr>
              <a:t>15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20095" cy="103733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8000"/>
              </a:lnSpc>
            </a:pPr>
            <a:r>
              <a:rPr sz="3200" b="1" i="0">
                <a:solidFill>
                  <a:srgbClr val="1F4E78"/>
                </a:solidFill>
                <a:latin typeface="Calibri"/>
                <a:ea typeface="Microsoft YaHei"/>
                <a:cs typeface="Microsoft YaHei"/>
              </a:rPr>
              <a:t>One debugging session ran long because no time budget was set before it started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1604263"/>
            <a:ext cx="10820095" cy="9525"/>
          </a:xfrm>
          <a:prstGeom prst="rect">
            <a:avLst/>
          </a:prstGeom>
          <a:solidFill>
            <a:srgbClr val="1F4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04088" y="1876297"/>
            <a:ext cx="82296" cy="82296"/>
          </a:xfrm>
          <a:prstGeom prst="rect">
            <a:avLst/>
          </a:prstGeom>
          <a:solidFill>
            <a:srgbClr val="1F4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78408" y="1750567"/>
            <a:ext cx="10527487" cy="736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2000"/>
              </a:lnSpc>
            </a:pPr>
            <a:r>
              <a:rPr sz="2200" b="1" i="0">
                <a:solidFill>
                  <a:srgbClr val="1F4E78"/>
                </a:solidFill>
                <a:latin typeface="Calibri"/>
                <a:ea typeface="Microsoft YaHei"/>
                <a:cs typeface="Microsoft YaHei"/>
              </a:rPr>
              <a:t>The cost.  </a:t>
            </a:r>
            <a:r>
              <a:rPr sz="2200" b="0" i="0">
                <a:solidFill>
                  <a:srgbClr val="000000"/>
                </a:solidFill>
                <a:latin typeface="Calibri"/>
                <a:ea typeface="Microsoft YaHei"/>
                <a:cs typeface="Microsoft YaHei"/>
              </a:rPr>
              <a:t>The thread-style bug consumed the largest single block of investigation time in the project.</a:t>
            </a:r>
          </a:p>
        </p:txBody>
      </p:sp>
      <p:sp>
        <p:nvSpPr>
          <p:cNvPr id="6" name="Rectangle 5"/>
          <p:cNvSpPr/>
          <p:nvPr/>
        </p:nvSpPr>
        <p:spPr>
          <a:xfrm>
            <a:off x="704088" y="2939922"/>
            <a:ext cx="82296" cy="82296"/>
          </a:xfrm>
          <a:prstGeom prst="rect">
            <a:avLst/>
          </a:prstGeom>
          <a:solidFill>
            <a:srgbClr val="1F4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78408" y="2814192"/>
            <a:ext cx="10527487" cy="736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2000"/>
              </a:lnSpc>
            </a:pPr>
            <a:r>
              <a:rPr sz="2200" b="1" i="0">
                <a:solidFill>
                  <a:srgbClr val="1F4E78"/>
                </a:solidFill>
                <a:latin typeface="Calibri"/>
                <a:ea typeface="Microsoft YaHei"/>
                <a:cs typeface="Microsoft YaHei"/>
              </a:rPr>
              <a:t>What was tried.  </a:t>
            </a:r>
            <a:r>
              <a:rPr sz="2200" b="0" i="0">
                <a:solidFill>
                  <a:srgbClr val="000000"/>
                </a:solidFill>
                <a:latin typeface="Calibri"/>
                <a:ea typeface="Microsoft YaHei"/>
                <a:cs typeface="Microsoft YaHei"/>
              </a:rPr>
              <a:t>Strict Mode toggling, a full cache clear, a server restart — all before stopping.</a:t>
            </a:r>
          </a:p>
        </p:txBody>
      </p:sp>
      <p:sp>
        <p:nvSpPr>
          <p:cNvPr id="8" name="Rectangle 7"/>
          <p:cNvSpPr/>
          <p:nvPr/>
        </p:nvSpPr>
        <p:spPr>
          <a:xfrm>
            <a:off x="704088" y="4003547"/>
            <a:ext cx="82296" cy="82296"/>
          </a:xfrm>
          <a:prstGeom prst="rect">
            <a:avLst/>
          </a:prstGeom>
          <a:solidFill>
            <a:srgbClr val="1F4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78408" y="3877817"/>
            <a:ext cx="10527487" cy="736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2000"/>
              </a:lnSpc>
            </a:pPr>
            <a:r>
              <a:rPr sz="2200" b="1" i="0">
                <a:solidFill>
                  <a:srgbClr val="1F4E78"/>
                </a:solidFill>
                <a:latin typeface="Calibri"/>
                <a:ea typeface="Microsoft YaHei"/>
                <a:cs typeface="Microsoft YaHei"/>
              </a:rPr>
              <a:t>The lesson.  </a:t>
            </a:r>
            <a:r>
              <a:rPr sz="2200" b="0" i="0">
                <a:solidFill>
                  <a:srgbClr val="000000"/>
                </a:solidFill>
                <a:latin typeface="Calibri"/>
                <a:ea typeface="Microsoft YaHei"/>
                <a:cs typeface="Microsoft YaHei"/>
              </a:rPr>
              <a:t>Set an explicit time/attempt budget on any single bug investigation before starting it, not after it's already run long.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04088" y="5067172"/>
            <a:ext cx="82296" cy="82296"/>
          </a:xfrm>
          <a:prstGeom prst="rect">
            <a:avLst/>
          </a:prstGeom>
          <a:solidFill>
            <a:srgbClr val="1F4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78408" y="4941442"/>
            <a:ext cx="10527487" cy="10774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2000"/>
              </a:lnSpc>
            </a:pPr>
            <a:r>
              <a:rPr sz="2200" b="1" i="0">
                <a:solidFill>
                  <a:srgbClr val="1F4E78"/>
                </a:solidFill>
                <a:latin typeface="Calibri"/>
                <a:ea typeface="Microsoft YaHei"/>
                <a:cs typeface="Microsoft YaHei"/>
              </a:rPr>
              <a:t>The second gap.  </a:t>
            </a:r>
            <a:r>
              <a:rPr sz="2200" b="0" i="0">
                <a:solidFill>
                  <a:srgbClr val="000000"/>
                </a:solidFill>
                <a:latin typeface="Calibri"/>
                <a:ea typeface="Microsoft YaHei"/>
                <a:cs typeface="Microsoft YaHei"/>
              </a:rPr>
              <a:t>No automated test suite was written despite the plan specifying one — every scenario needed a real, currently-live tweet found by hand.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6355080"/>
            <a:ext cx="96012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200" b="0" i="1">
                <a:solidFill>
                  <a:srgbClr val="808080"/>
                </a:solidFill>
                <a:latin typeface="Calibri"/>
                <a:ea typeface="Microsoft YaHei"/>
                <a:cs typeface="Microsoft YaHei"/>
              </a:rPr>
              <a:t>reviews/05-ship.md (“Where time was spent”)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91495" y="635508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200" b="0" i="0">
                <a:solidFill>
                  <a:srgbClr val="808080"/>
                </a:solidFill>
                <a:latin typeface="Calibri"/>
                <a:ea typeface="Microsoft YaHei"/>
                <a:cs typeface="Microsoft YaHei"/>
              </a:rPr>
              <a:t>16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20095" cy="103733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8000"/>
              </a:lnSpc>
            </a:pPr>
            <a:r>
              <a:rPr sz="3200" b="1" i="0">
                <a:solidFill>
                  <a:srgbClr val="1F4E78"/>
                </a:solidFill>
                <a:latin typeface="Calibri"/>
                <a:ea typeface="Microsoft YaHei"/>
                <a:cs typeface="Microsoft YaHei"/>
              </a:rPr>
              <a:t>The same sequence generalizes: frame, review, de-risk, build, verify, ship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1604263"/>
            <a:ext cx="10820095" cy="9525"/>
          </a:xfrm>
          <a:prstGeom prst="rect">
            <a:avLst/>
          </a:prstGeom>
          <a:solidFill>
            <a:srgbClr val="1F4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750567"/>
            <a:ext cx="10820095" cy="7005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0000"/>
              </a:lnSpc>
            </a:pPr>
            <a:r>
              <a:rPr sz="1900" b="0" i="1">
                <a:solidFill>
                  <a:srgbClr val="595959"/>
                </a:solidFill>
                <a:latin typeface="Calibri"/>
                <a:ea typeface="Microsoft YaHei"/>
                <a:cs typeface="Microsoft YaHei"/>
              </a:rPr>
              <a:t>Full chain: problem framing → CEO → PM → architecture → review → high-risk spike → build → browser QA → human QA → minimal QC → deploy.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2579115"/>
            <a:ext cx="10820095" cy="446277"/>
          </a:xfrm>
          <a:prstGeom prst="rect">
            <a:avLst/>
          </a:prstGeom>
          <a:solidFill>
            <a:srgbClr val="1F4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13816" y="2652267"/>
            <a:ext cx="2898198" cy="336549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Stage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931470" y="2652267"/>
            <a:ext cx="7482984" cy="336549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What happens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13816" y="3098544"/>
            <a:ext cx="2898198" cy="34645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</a:pPr>
            <a:r>
              <a:rPr sz="2000" b="0" i="0">
                <a:solidFill>
                  <a:srgbClr val="000000"/>
                </a:solidFill>
                <a:latin typeface="Calibri"/>
                <a:ea typeface="Microsoft YaHei"/>
                <a:cs typeface="Microsoft YaHei"/>
              </a:rPr>
              <a:t>1. Frame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931470" y="3098544"/>
            <a:ext cx="7482984" cy="34645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</a:pPr>
            <a:r>
              <a:rPr sz="2000" b="0" i="0">
                <a:solidFill>
                  <a:srgbClr val="000000"/>
                </a:solidFill>
                <a:latin typeface="Calibri"/>
                <a:ea typeface="Microsoft YaHei"/>
                <a:cs typeface="Microsoft YaHei"/>
              </a:rPr>
              <a:t>Problem framing, premise challenge</a:t>
            </a:r>
          </a:p>
        </p:txBody>
      </p:sp>
      <p:sp>
        <p:nvSpPr>
          <p:cNvPr id="10" name="Rectangle 9"/>
          <p:cNvSpPr/>
          <p:nvPr/>
        </p:nvSpPr>
        <p:spPr>
          <a:xfrm>
            <a:off x="685800" y="3481575"/>
            <a:ext cx="10820095" cy="9525"/>
          </a:xfrm>
          <a:prstGeom prst="rect">
            <a:avLst/>
          </a:prstGeom>
          <a:solidFill>
            <a:srgbClr val="D8D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85800" y="3481575"/>
            <a:ext cx="10820095" cy="456183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13816" y="3554727"/>
            <a:ext cx="2898198" cy="34645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</a:pPr>
            <a:r>
              <a:rPr sz="2000" b="0" i="0">
                <a:solidFill>
                  <a:srgbClr val="000000"/>
                </a:solidFill>
                <a:latin typeface="Calibri"/>
                <a:ea typeface="Microsoft YaHei"/>
                <a:cs typeface="Microsoft YaHei"/>
              </a:rPr>
              <a:t>2. Plan &amp; review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931470" y="3554727"/>
            <a:ext cx="7482984" cy="34645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</a:pPr>
            <a:r>
              <a:rPr sz="2000" b="0" i="0">
                <a:solidFill>
                  <a:srgbClr val="000000"/>
                </a:solidFill>
                <a:latin typeface="Calibri"/>
                <a:ea typeface="Microsoft YaHei"/>
                <a:cs typeface="Microsoft YaHei"/>
              </a:rPr>
              <a:t>CEO → PM → architecture → independent review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85800" y="3937758"/>
            <a:ext cx="10820095" cy="9525"/>
          </a:xfrm>
          <a:prstGeom prst="rect">
            <a:avLst/>
          </a:prstGeom>
          <a:solidFill>
            <a:srgbClr val="D8D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13816" y="4010910"/>
            <a:ext cx="2898198" cy="34645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</a:pPr>
            <a:r>
              <a:rPr sz="2000" b="0" i="0">
                <a:solidFill>
                  <a:srgbClr val="000000"/>
                </a:solidFill>
                <a:latin typeface="Calibri"/>
                <a:ea typeface="Microsoft YaHei"/>
                <a:cs typeface="Microsoft YaHei"/>
              </a:rPr>
              <a:t>3. De-risk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931470" y="4010910"/>
            <a:ext cx="7482984" cy="34645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</a:pPr>
            <a:r>
              <a:rPr sz="2000" b="0" i="0">
                <a:solidFill>
                  <a:srgbClr val="000000"/>
                </a:solidFill>
                <a:latin typeface="Calibri"/>
                <a:ea typeface="Microsoft YaHei"/>
                <a:cs typeface="Microsoft YaHei"/>
              </a:rPr>
              <a:t>High-risk spike, gated before broad implementation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85800" y="4393941"/>
            <a:ext cx="10820095" cy="9525"/>
          </a:xfrm>
          <a:prstGeom prst="rect">
            <a:avLst/>
          </a:prstGeom>
          <a:solidFill>
            <a:srgbClr val="D8D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85800" y="4393941"/>
            <a:ext cx="10820095" cy="456183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13816" y="4467093"/>
            <a:ext cx="2898198" cy="34645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</a:pPr>
            <a:r>
              <a:rPr sz="2000" b="0" i="0">
                <a:solidFill>
                  <a:srgbClr val="000000"/>
                </a:solidFill>
                <a:latin typeface="Calibri"/>
                <a:ea typeface="Microsoft YaHei"/>
                <a:cs typeface="Microsoft YaHei"/>
              </a:rPr>
              <a:t>4. Build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931470" y="4467093"/>
            <a:ext cx="7482984" cy="34645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</a:pPr>
            <a:r>
              <a:rPr sz="2000" b="0" i="0">
                <a:solidFill>
                  <a:srgbClr val="000000"/>
                </a:solidFill>
                <a:latin typeface="Calibri"/>
                <a:ea typeface="Microsoft YaHei"/>
                <a:cs typeface="Microsoft YaHei"/>
              </a:rPr>
              <a:t>Implementation against the reviewed plan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85800" y="4850124"/>
            <a:ext cx="10820095" cy="9525"/>
          </a:xfrm>
          <a:prstGeom prst="rect">
            <a:avLst/>
          </a:prstGeom>
          <a:solidFill>
            <a:srgbClr val="D8D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13816" y="4923276"/>
            <a:ext cx="2898198" cy="34645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</a:pPr>
            <a:r>
              <a:rPr sz="2000" b="0" i="0">
                <a:solidFill>
                  <a:srgbClr val="000000"/>
                </a:solidFill>
                <a:latin typeface="Calibri"/>
                <a:ea typeface="Microsoft YaHei"/>
                <a:cs typeface="Microsoft YaHei"/>
              </a:rPr>
              <a:t>5. Verify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931470" y="4923276"/>
            <a:ext cx="7482984" cy="34645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</a:pPr>
            <a:r>
              <a:rPr sz="2000" b="0" i="0">
                <a:solidFill>
                  <a:srgbClr val="000000"/>
                </a:solidFill>
                <a:latin typeface="Calibri"/>
                <a:ea typeface="Microsoft YaHei"/>
                <a:cs typeface="Microsoft YaHei"/>
              </a:rPr>
              <a:t>Browser QA + human QA — not either alone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85800" y="5306307"/>
            <a:ext cx="10820095" cy="9525"/>
          </a:xfrm>
          <a:prstGeom prst="rect">
            <a:avLst/>
          </a:prstGeom>
          <a:solidFill>
            <a:srgbClr val="D8D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85800" y="5306307"/>
            <a:ext cx="10820095" cy="456183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13816" y="5379459"/>
            <a:ext cx="2898198" cy="34645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</a:pPr>
            <a:r>
              <a:rPr sz="2000" b="0" i="0">
                <a:solidFill>
                  <a:srgbClr val="000000"/>
                </a:solidFill>
                <a:latin typeface="Calibri"/>
                <a:ea typeface="Microsoft YaHei"/>
                <a:cs typeface="Microsoft YaHei"/>
              </a:rPr>
              <a:t>6. Ship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931470" y="5379459"/>
            <a:ext cx="7482984" cy="34645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</a:pPr>
            <a:r>
              <a:rPr sz="2000" b="0" i="0">
                <a:solidFill>
                  <a:srgbClr val="000000"/>
                </a:solidFill>
                <a:latin typeface="Calibri"/>
                <a:ea typeface="Microsoft YaHei"/>
                <a:cs typeface="Microsoft YaHei"/>
              </a:rPr>
              <a:t>Minimal QC, deploy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85800" y="5762490"/>
            <a:ext cx="10820095" cy="9525"/>
          </a:xfrm>
          <a:prstGeom prst="rect">
            <a:avLst/>
          </a:prstGeom>
          <a:solidFill>
            <a:srgbClr val="D8D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85800" y="6355080"/>
            <a:ext cx="96012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200" b="0" i="1">
                <a:solidFill>
                  <a:srgbClr val="808080"/>
                </a:solidFill>
                <a:latin typeface="Calibri"/>
                <a:ea typeface="Microsoft YaHei"/>
                <a:cs typeface="Microsoft YaHei"/>
              </a:rPr>
              <a:t>PLAN.md; reviews/01-05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591495" y="635508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200" b="0" i="0">
                <a:solidFill>
                  <a:srgbClr val="808080"/>
                </a:solidFill>
                <a:latin typeface="Calibri"/>
                <a:ea typeface="Microsoft YaHei"/>
                <a:cs typeface="Microsoft YaHei"/>
              </a:rPr>
              <a:t>17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20095" cy="103733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8000"/>
              </a:lnSpc>
            </a:pPr>
            <a:r>
              <a:rPr sz="3200" b="1" i="0">
                <a:solidFill>
                  <a:srgbClr val="1F4E78"/>
                </a:solidFill>
                <a:latin typeface="Calibri"/>
                <a:ea typeface="Microsoft YaHei"/>
                <a:cs typeface="Microsoft YaHei"/>
              </a:rPr>
              <a:t>Humans hold judgment and authorization; AI holds repeatable, exhaustive verification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1604263"/>
            <a:ext cx="10820095" cy="9525"/>
          </a:xfrm>
          <a:prstGeom prst="rect">
            <a:avLst/>
          </a:prstGeom>
          <a:solidFill>
            <a:srgbClr val="1F4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85800" y="1750567"/>
            <a:ext cx="5250027" cy="4467353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1750567"/>
            <a:ext cx="5250027" cy="502920"/>
          </a:xfrm>
          <a:prstGeom prst="rect">
            <a:avLst/>
          </a:prstGeom>
          <a:solidFill>
            <a:srgbClr val="1F4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5256" y="1869439"/>
            <a:ext cx="4811115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HUMAN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256" y="2463799"/>
            <a:ext cx="4811115" cy="3644393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2000"/>
              </a:lnSpc>
              <a:spcAft>
                <a:spcPts val="800"/>
              </a:spcAft>
            </a:pPr>
            <a:r>
              <a:rPr sz="2200" b="0" i="0">
                <a:solidFill>
                  <a:srgbClr val="000000"/>
                </a:solidFill>
                <a:latin typeface="Calibri"/>
                <a:ea typeface="Microsoft YaHei"/>
                <a:cs typeface="Microsoft YaHei"/>
              </a:rPr>
              <a:t>Judgment: does this actually look right?</a:t>
            </a:r>
          </a:p>
          <a:p>
            <a:pPr algn="l">
              <a:lnSpc>
                <a:spcPct val="122000"/>
              </a:lnSpc>
              <a:spcAft>
                <a:spcPts val="800"/>
              </a:spcAft>
            </a:pPr>
            <a:r>
              <a:rPr sz="2200" b="0" i="0">
                <a:solidFill>
                  <a:srgbClr val="000000"/>
                </a:solidFill>
                <a:latin typeface="Calibri"/>
                <a:ea typeface="Microsoft YaHei"/>
                <a:cs typeface="Microsoft YaHei"/>
              </a:rPr>
              <a:t>Authorization: account logins, real money, real credentials</a:t>
            </a:r>
          </a:p>
          <a:p>
            <a:pPr algn="l">
              <a:lnSpc>
                <a:spcPct val="122000"/>
              </a:lnSpc>
              <a:spcAft>
                <a:spcPts val="800"/>
              </a:spcAft>
            </a:pPr>
            <a:r>
              <a:rPr sz="2200" b="0" i="0">
                <a:solidFill>
                  <a:srgbClr val="000000"/>
                </a:solidFill>
                <a:latin typeface="Calibri"/>
                <a:ea typeface="Microsoft YaHei"/>
                <a:cs typeface="Microsoft YaHei"/>
              </a:rPr>
              <a:t>The ship decision, every time</a:t>
            </a:r>
          </a:p>
        </p:txBody>
      </p:sp>
      <p:sp>
        <p:nvSpPr>
          <p:cNvPr id="8" name="Rectangle 7"/>
          <p:cNvSpPr/>
          <p:nvPr/>
        </p:nvSpPr>
        <p:spPr>
          <a:xfrm>
            <a:off x="6255867" y="1750567"/>
            <a:ext cx="5250027" cy="4467353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255867" y="1750567"/>
            <a:ext cx="5250027" cy="502920"/>
          </a:xfrm>
          <a:prstGeom prst="rect">
            <a:avLst/>
          </a:prstGeom>
          <a:solidFill>
            <a:srgbClr val="1E7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75323" y="1869439"/>
            <a:ext cx="4811115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AI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75323" y="2463799"/>
            <a:ext cx="4811115" cy="3644393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2000"/>
              </a:lnSpc>
              <a:spcAft>
                <a:spcPts val="800"/>
              </a:spcAft>
            </a:pPr>
            <a:r>
              <a:rPr sz="2200" b="0" i="0">
                <a:solidFill>
                  <a:srgbClr val="000000"/>
                </a:solidFill>
                <a:latin typeface="Calibri"/>
                <a:ea typeface="Microsoft YaHei"/>
                <a:cs typeface="Microsoft YaHei"/>
              </a:rPr>
              <a:t>Analysis: reading library source, security checklists</a:t>
            </a:r>
          </a:p>
          <a:p>
            <a:pPr algn="l">
              <a:lnSpc>
                <a:spcPct val="122000"/>
              </a:lnSpc>
              <a:spcAft>
                <a:spcPts val="800"/>
              </a:spcAft>
            </a:pPr>
            <a:r>
              <a:rPr sz="2200" b="0" i="0">
                <a:solidFill>
                  <a:srgbClr val="000000"/>
                </a:solidFill>
                <a:latin typeface="Calibri"/>
                <a:ea typeface="Microsoft YaHei"/>
                <a:cs typeface="Microsoft YaHei"/>
              </a:rPr>
              <a:t>Implementation: following the reviewed plan</a:t>
            </a:r>
          </a:p>
          <a:p>
            <a:pPr algn="l">
              <a:lnSpc>
                <a:spcPct val="122000"/>
              </a:lnSpc>
              <a:spcAft>
                <a:spcPts val="800"/>
              </a:spcAft>
            </a:pPr>
            <a:r>
              <a:rPr sz="2200" b="0" i="0">
                <a:solidFill>
                  <a:srgbClr val="000000"/>
                </a:solidFill>
                <a:latin typeface="Calibri"/>
                <a:ea typeface="Microsoft YaHei"/>
                <a:cs typeface="Microsoft YaHei"/>
              </a:rPr>
              <a:t>Repetitive verification: the same QC loop, dozens of times, zero fatigue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6355080"/>
            <a:ext cx="96012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200" b="0" i="1">
                <a:solidFill>
                  <a:srgbClr val="808080"/>
                </a:solidFill>
                <a:latin typeface="Calibri"/>
                <a:ea typeface="Microsoft YaHei"/>
                <a:cs typeface="Microsoft YaHei"/>
              </a:rPr>
              <a:t>reviews/05-ship.md (“Human/AI responsibility”)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91495" y="635508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200" b="0" i="0">
                <a:solidFill>
                  <a:srgbClr val="808080"/>
                </a:solidFill>
                <a:latin typeface="Calibri"/>
                <a:ea typeface="Microsoft YaHei"/>
                <a:cs typeface="Microsoft YaHei"/>
              </a:rPr>
              <a:t>18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20095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600" b="1" i="0">
                <a:solidFill>
                  <a:srgbClr val="1F4E78"/>
                </a:solidFill>
                <a:latin typeface="Calibri"/>
                <a:ea typeface="Microsoft YaHei"/>
                <a:cs typeface="Microsoft YaHei"/>
              </a:rPr>
              <a:t>FINAL LESSONS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786384"/>
            <a:ext cx="10820095" cy="103733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8000"/>
              </a:lnSpc>
            </a:pPr>
            <a:r>
              <a:rPr sz="3200" b="1" i="0">
                <a:solidFill>
                  <a:srgbClr val="1F4E78"/>
                </a:solidFill>
                <a:latin typeface="Calibri"/>
                <a:ea typeface="Microsoft YaHei"/>
                <a:cs typeface="Microsoft YaHei"/>
              </a:rPr>
              <a:t>Six lessons this project actually earned, not six generic best practices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933447"/>
            <a:ext cx="10820095" cy="9525"/>
          </a:xfrm>
          <a:prstGeom prst="rect">
            <a:avLst/>
          </a:prstGeom>
          <a:solidFill>
            <a:srgbClr val="1F4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04088" y="2205481"/>
            <a:ext cx="82296" cy="82296"/>
          </a:xfrm>
          <a:prstGeom prst="rect">
            <a:avLst/>
          </a:prstGeom>
          <a:solidFill>
            <a:srgbClr val="1F4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78408" y="2079751"/>
            <a:ext cx="10527487" cy="736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2000"/>
              </a:lnSpc>
            </a:pPr>
            <a:r>
              <a:rPr sz="2200" b="1" i="0">
                <a:solidFill>
                  <a:srgbClr val="1F4E78"/>
                </a:solidFill>
                <a:latin typeface="Calibri"/>
                <a:ea typeface="Microsoft YaHei"/>
                <a:cs typeface="Microsoft YaHei"/>
              </a:rPr>
              <a:t>1.  </a:t>
            </a:r>
            <a:r>
              <a:rPr sz="2200" b="0" i="0">
                <a:solidFill>
                  <a:srgbClr val="000000"/>
                </a:solidFill>
                <a:latin typeface="Calibri"/>
                <a:ea typeface="Microsoft YaHei"/>
                <a:cs typeface="Microsoft YaHei"/>
              </a:rPr>
              <a:t>A passing check is not proof of correct output — look at the artifact.</a:t>
            </a:r>
          </a:p>
        </p:txBody>
      </p:sp>
      <p:sp>
        <p:nvSpPr>
          <p:cNvPr id="7" name="Rectangle 6"/>
          <p:cNvSpPr/>
          <p:nvPr/>
        </p:nvSpPr>
        <p:spPr>
          <a:xfrm>
            <a:off x="704088" y="3070097"/>
            <a:ext cx="82296" cy="82296"/>
          </a:xfrm>
          <a:prstGeom prst="rect">
            <a:avLst/>
          </a:prstGeom>
          <a:solidFill>
            <a:srgbClr val="1F4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78408" y="2944367"/>
            <a:ext cx="10527487" cy="736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2000"/>
              </a:lnSpc>
            </a:pPr>
            <a:r>
              <a:rPr sz="2200" b="1" i="0">
                <a:solidFill>
                  <a:srgbClr val="1F4E78"/>
                </a:solidFill>
                <a:latin typeface="Calibri"/>
                <a:ea typeface="Microsoft YaHei"/>
                <a:cs typeface="Microsoft YaHei"/>
              </a:rPr>
              <a:t>2.  </a:t>
            </a:r>
            <a:r>
              <a:rPr sz="2200" b="0" i="0">
                <a:solidFill>
                  <a:srgbClr val="000000"/>
                </a:solidFill>
                <a:latin typeface="Calibri"/>
                <a:ea typeface="Microsoft YaHei"/>
                <a:cs typeface="Microsoft YaHei"/>
              </a:rPr>
              <a:t>An independent reviewer catches what a self-reviewer structurally cannot.</a:t>
            </a:r>
          </a:p>
        </p:txBody>
      </p:sp>
      <p:sp>
        <p:nvSpPr>
          <p:cNvPr id="9" name="Rectangle 8"/>
          <p:cNvSpPr/>
          <p:nvPr/>
        </p:nvSpPr>
        <p:spPr>
          <a:xfrm>
            <a:off x="704088" y="3934713"/>
            <a:ext cx="82296" cy="82296"/>
          </a:xfrm>
          <a:prstGeom prst="rect">
            <a:avLst/>
          </a:prstGeom>
          <a:solidFill>
            <a:srgbClr val="1F4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78408" y="3808983"/>
            <a:ext cx="10527487" cy="736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2000"/>
              </a:lnSpc>
            </a:pPr>
            <a:r>
              <a:rPr sz="2200" b="1" i="0">
                <a:solidFill>
                  <a:srgbClr val="1F4E78"/>
                </a:solidFill>
                <a:latin typeface="Calibri"/>
                <a:ea typeface="Microsoft YaHei"/>
                <a:cs typeface="Microsoft YaHei"/>
              </a:rPr>
              <a:t>3.  </a:t>
            </a:r>
            <a:r>
              <a:rPr sz="2200" b="0" i="0">
                <a:solidFill>
                  <a:srgbClr val="000000"/>
                </a:solidFill>
                <a:latin typeface="Calibri"/>
                <a:ea typeface="Microsoft YaHei"/>
                <a:cs typeface="Microsoft YaHei"/>
              </a:rPr>
              <a:t>A reviewed decision isn't shipped until the code is checked, not the plan.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04088" y="4799329"/>
            <a:ext cx="82296" cy="82296"/>
          </a:xfrm>
          <a:prstGeom prst="rect">
            <a:avLst/>
          </a:prstGeom>
          <a:solidFill>
            <a:srgbClr val="1F4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78408" y="4673599"/>
            <a:ext cx="10527487" cy="3957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2000"/>
              </a:lnSpc>
            </a:pPr>
            <a:r>
              <a:rPr sz="2200" b="1" i="0">
                <a:solidFill>
                  <a:srgbClr val="1F4E78"/>
                </a:solidFill>
                <a:latin typeface="Calibri"/>
                <a:ea typeface="Microsoft YaHei"/>
                <a:cs typeface="Microsoft YaHei"/>
              </a:rPr>
              <a:t>4.  </a:t>
            </a:r>
            <a:r>
              <a:rPr sz="2200" b="0" i="0">
                <a:solidFill>
                  <a:srgbClr val="000000"/>
                </a:solidFill>
                <a:latin typeface="Calibri"/>
                <a:ea typeface="Microsoft YaHei"/>
                <a:cs typeface="Microsoft YaHei"/>
              </a:rPr>
              <a:t>Set a debugging time budget before starting, not after it's run long.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04088" y="5323077"/>
            <a:ext cx="82296" cy="82296"/>
          </a:xfrm>
          <a:prstGeom prst="rect">
            <a:avLst/>
          </a:prstGeom>
          <a:solidFill>
            <a:srgbClr val="1F4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78408" y="5197347"/>
            <a:ext cx="10527487" cy="3957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2000"/>
              </a:lnSpc>
            </a:pPr>
            <a:r>
              <a:rPr sz="2200" b="1" i="0">
                <a:solidFill>
                  <a:srgbClr val="1F4E78"/>
                </a:solidFill>
                <a:latin typeface="Calibri"/>
                <a:ea typeface="Microsoft YaHei"/>
                <a:cs typeface="Microsoft YaHei"/>
              </a:rPr>
              <a:t>5.  </a:t>
            </a:r>
            <a:r>
              <a:rPr sz="2200" b="0" i="0">
                <a:solidFill>
                  <a:srgbClr val="000000"/>
                </a:solidFill>
                <a:latin typeface="Calibri"/>
                <a:ea typeface="Microsoft YaHei"/>
                <a:cs typeface="Microsoft YaHei"/>
              </a:rPr>
              <a:t>Never let an AI perform account authorization — that stays human.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04088" y="5846825"/>
            <a:ext cx="82296" cy="82296"/>
          </a:xfrm>
          <a:prstGeom prst="rect">
            <a:avLst/>
          </a:prstGeom>
          <a:solidFill>
            <a:srgbClr val="1F4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78408" y="5721095"/>
            <a:ext cx="10527487" cy="736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2000"/>
              </a:lnSpc>
            </a:pPr>
            <a:r>
              <a:rPr sz="2200" b="1" i="0">
                <a:solidFill>
                  <a:srgbClr val="1F4E78"/>
                </a:solidFill>
                <a:latin typeface="Calibri"/>
                <a:ea typeface="Microsoft YaHei"/>
                <a:cs typeface="Microsoft YaHei"/>
              </a:rPr>
              <a:t>6.  </a:t>
            </a:r>
            <a:r>
              <a:rPr sz="2200" b="0" i="0">
                <a:solidFill>
                  <a:srgbClr val="000000"/>
                </a:solidFill>
                <a:latin typeface="Calibri"/>
                <a:ea typeface="Microsoft YaHei"/>
                <a:cs typeface="Microsoft YaHei"/>
              </a:rPr>
              <a:t>State known gaps in release notes. Silence about limits reads as a claim.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6355080"/>
            <a:ext cx="96012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200" b="0" i="1">
                <a:solidFill>
                  <a:srgbClr val="808080"/>
                </a:solidFill>
                <a:latin typeface="Calibri"/>
                <a:ea typeface="Microsoft YaHei"/>
                <a:cs typeface="Microsoft YaHei"/>
              </a:rPr>
              <a:t>reviews/04-qa-report.md; reviews/05-ship.md; docs/external_ai_mentor.md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591495" y="635508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200" b="0" i="0">
                <a:solidFill>
                  <a:srgbClr val="808080"/>
                </a:solidFill>
                <a:latin typeface="Calibri"/>
                <a:ea typeface="Microsoft YaHei"/>
                <a:cs typeface="Microsoft YaHei"/>
              </a:rPr>
              <a:t>19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